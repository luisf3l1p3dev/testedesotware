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y="6858000" cx="9144000"/>
  <p:notesSz cx="6858000" cy="9144000"/>
  <p:embeddedFontLst>
    <p:embeddedFont>
      <p:font typeface="Roboto"/>
      <p:regular r:id="rId41"/>
      <p:bold r:id="rId42"/>
      <p:italic r:id="rId43"/>
      <p:boldItalic r:id="rId44"/>
    </p:embeddedFont>
    <p:embeddedFont>
      <p:font typeface="Cabin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3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4DFE960-0670-48EE-9F83-311B0CB271FA}">
  <a:tblStyle styleId="{E4DFE960-0670-48EE-9F83-311B0CB271F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3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font" Target="fonts/Roboto-bold.fntdata"/><Relationship Id="rId41" Type="http://schemas.openxmlformats.org/officeDocument/2006/relationships/font" Target="fonts/Roboto-regular.fntdata"/><Relationship Id="rId22" Type="http://schemas.openxmlformats.org/officeDocument/2006/relationships/slide" Target="slides/slide16.xml"/><Relationship Id="rId44" Type="http://schemas.openxmlformats.org/officeDocument/2006/relationships/font" Target="fonts/Roboto-boldItalic.fntdata"/><Relationship Id="rId21" Type="http://schemas.openxmlformats.org/officeDocument/2006/relationships/slide" Target="slides/slide15.xml"/><Relationship Id="rId43" Type="http://schemas.openxmlformats.org/officeDocument/2006/relationships/font" Target="fonts/Roboto-italic.fntdata"/><Relationship Id="rId24" Type="http://schemas.openxmlformats.org/officeDocument/2006/relationships/slide" Target="slides/slide18.xml"/><Relationship Id="rId46" Type="http://schemas.openxmlformats.org/officeDocument/2006/relationships/font" Target="fonts/Cabin-bold.fntdata"/><Relationship Id="rId23" Type="http://schemas.openxmlformats.org/officeDocument/2006/relationships/slide" Target="slides/slide17.xml"/><Relationship Id="rId45" Type="http://schemas.openxmlformats.org/officeDocument/2006/relationships/font" Target="fonts/Cabin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48" Type="http://schemas.openxmlformats.org/officeDocument/2006/relationships/font" Target="fonts/Cabin-boldItalic.fntdata"/><Relationship Id="rId25" Type="http://schemas.openxmlformats.org/officeDocument/2006/relationships/slide" Target="slides/slide19.xml"/><Relationship Id="rId47" Type="http://schemas.openxmlformats.org/officeDocument/2006/relationships/font" Target="fonts/Cabin-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b353a88bfd_0_5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b353a88bfd_0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você comprou lote, terreno e quer construir uma casa, a casa dos seus sonhos considerando a sua demanda, a sua necessidade. 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O quê que você faz? Você contrata uma equipe com pedreiros, com engenheiro, que vai construir essa casa para você seguindo as suas vontades e necessidades. </a:t>
            </a:r>
            <a:endParaRPr/>
          </a:p>
        </p:txBody>
      </p:sp>
      <p:sp>
        <p:nvSpPr>
          <p:cNvPr id="97" name="Google Shape;97;gb353a88bfd_0_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b370ba12c0_0_2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b370ba12c0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 tinta ficou ok, rachaduras, está ficando como esperado?</a:t>
            </a:r>
            <a:endParaRPr/>
          </a:p>
        </p:txBody>
      </p:sp>
      <p:sp>
        <p:nvSpPr>
          <p:cNvPr id="108" name="Google Shape;108;gb370ba12c0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b370ba12c0_0_3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b370ba12c0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 tinta ficou ok, rachaduras, está ficando como esperado?</a:t>
            </a:r>
            <a:endParaRPr/>
          </a:p>
        </p:txBody>
      </p:sp>
      <p:sp>
        <p:nvSpPr>
          <p:cNvPr id="118" name="Google Shape;118;gb370ba12c0_0_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b370ba12c0_0_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b370ba12c0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b370ba12c0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b370ba12c0_0_6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b370ba12c0_0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b370ba12c0_0_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b370ba12c0_0_8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b370ba12c0_0_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b370ba12c0_0_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b370ba12c0_0_7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b370ba12c0_0_7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b370ba12c0_0_7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b370ba12c0_0_72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b370ba12c0_0_7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b370ba12c0_0_7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b353a44824_0_5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b353a44824_0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importante identificar pesquisas, porque essas técnicas estão sendo evoluídas, têm sido criados novos critérios, novas técnicas,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então é importante ficar atento na questão das pesquisas recentes nessa área também</a:t>
            </a:r>
            <a:endParaRPr/>
          </a:p>
        </p:txBody>
      </p:sp>
      <p:sp>
        <p:nvSpPr>
          <p:cNvPr id="207" name="Google Shape;207;gb353a44824_0_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b370ba12c0_0_7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gb370ba12c0_0_73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b370ba12c0_0_125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b370ba12c0_0_12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b370ba12c0_0_12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b370ba12c0_0_123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b370ba12c0_0_12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b370ba12c0_0_12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b3ee3b2b2f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b3ee3b2b2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b3ee3b2b2f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b3ee3b2b2f_0_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b3ee3b2b2f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b3ee3b2b2f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b370ba12c0_0_82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b370ba12c0_0_8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b370ba12c0_0_8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b370ba12c0_0_83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b370ba12c0_0_8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b370ba12c0_0_8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b370ba12c0_0_84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b370ba12c0_0_8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b370ba12c0_0_8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b370ba12c0_0_119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b370ba12c0_0_11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b370ba12c0_0_11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b370ba12c0_0_12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0" name="Google Shape;330;gb370ba12c0_0_124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b370ba12c0_0_8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b370ba12c0_0_8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b370ba12c0_0_8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12e89b5c06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112e89b5c0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112e89b5c0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b370ba12c0_0_126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b370ba12c0_0_12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gb370ba12c0_0_12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112e89b5c06_0_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112e89b5c06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g112e89b5c06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112e89b5c06_0_3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112e89b5c06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g112e89b5c06_0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b370ba12c0_0_127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b370ba12c0_0_12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gb370ba12c0_0_12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b370ba12c0_0_128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b370ba12c0_0_12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gb370ba12c0_0_12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b370ba12c0_0_129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b370ba12c0_0_12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gb370ba12c0_0_12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112e89b5c06_0_5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112e89b5c06_0_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g112e89b5c06_0_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112e89b5c06_0_6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112e89b5c06_0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g112e89b5c06_0_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b370ba12c0_0_130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b370ba12c0_0_13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gb370ba12c0_0_13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b21bee5992_0_17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b21bee5992_0_1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gb21bee5992_0_1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b353a44824_0_76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b353a44824_0_7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gb353a44824_0_7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b370ba12c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8" name="Google Shape;478;gb370ba12c0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623593" y="2285206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623093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5.png"/><Relationship Id="rId7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idx="4294967295" type="ctrTitle"/>
          </p:nvPr>
        </p:nvSpPr>
        <p:spPr>
          <a:xfrm>
            <a:off x="0" y="2000727"/>
            <a:ext cx="9144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lt1"/>
                </a:solidFill>
              </a:rPr>
              <a:t>Teste de Software</a:t>
            </a:r>
            <a:endParaRPr b="1" i="0" sz="4400" u="none" cap="none" strike="noStrike">
              <a:solidFill>
                <a:srgbClr val="F1C232"/>
              </a:solidFill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394376" y="5573123"/>
            <a:ext cx="21645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300" lIns="50625" spcFirstLastPara="1" rIns="50625" wrap="square" tIns="25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Raphael Muniz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424856" y="5880780"/>
            <a:ext cx="23379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300" lIns="50625" spcFirstLastPara="1" rIns="50625" wrap="square" tIns="25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en-US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raphael.muniz</a:t>
            </a:r>
            <a:r>
              <a:rPr b="0" i="0" lang="en-US" u="none" cap="none" strike="noStrik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@</a:t>
            </a:r>
            <a:r>
              <a:rPr lang="en-US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ifrn.edu.br</a:t>
            </a:r>
            <a:endParaRPr b="0" i="0" u="none" cap="none" strike="noStrik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91" name="Google Shape;91;p13"/>
          <p:cNvSpPr txBox="1"/>
          <p:nvPr>
            <p:ph idx="4294967295" type="ctrTitle"/>
          </p:nvPr>
        </p:nvSpPr>
        <p:spPr>
          <a:xfrm>
            <a:off x="0" y="3143727"/>
            <a:ext cx="9144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 sz="3600">
                <a:solidFill>
                  <a:srgbClr val="FF9900"/>
                </a:solidFill>
              </a:rPr>
              <a:t>Técnicas de Teste: Teste Funcional</a:t>
            </a:r>
            <a:endParaRPr sz="3600">
              <a:solidFill>
                <a:srgbClr val="FF9900"/>
              </a:solidFill>
            </a:endParaRPr>
          </a:p>
        </p:txBody>
      </p:sp>
      <p:pic>
        <p:nvPicPr>
          <p:cNvPr id="92" name="Google Shape;9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1325" y="5237875"/>
            <a:ext cx="3181350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/>
        </p:nvSpPr>
        <p:spPr>
          <a:xfrm>
            <a:off x="1401750" y="55750"/>
            <a:ext cx="63405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Calibri"/>
                <a:ea typeface="Calibri"/>
                <a:cs typeface="Calibri"/>
                <a:sym typeface="Calibri"/>
              </a:rPr>
              <a:t>Teste Funcional</a:t>
            </a:r>
            <a:endParaRPr b="1" sz="33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4"/>
          <p:cNvPicPr preferRelativeResize="0"/>
          <p:nvPr/>
        </p:nvPicPr>
        <p:blipFill rotWithShape="1">
          <a:blip r:embed="rId3">
            <a:alphaModFix/>
          </a:blip>
          <a:srcRect b="36127" l="36127" r="0" t="0"/>
          <a:stretch/>
        </p:blipFill>
        <p:spPr>
          <a:xfrm>
            <a:off x="239875" y="1450050"/>
            <a:ext cx="4145000" cy="25906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1" name="Google Shape;101;p14"/>
          <p:cNvSpPr txBox="1"/>
          <p:nvPr/>
        </p:nvSpPr>
        <p:spPr>
          <a:xfrm>
            <a:off x="171275" y="3864550"/>
            <a:ext cx="42822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Lote, terreno para construção de uma casa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5075" y="1450050"/>
            <a:ext cx="3983425" cy="2893286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4715688" y="4114725"/>
            <a:ext cx="42822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Equipe que vai construir a casa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/>
        </p:nvSpPr>
        <p:spPr>
          <a:xfrm>
            <a:off x="1401750" y="55750"/>
            <a:ext cx="63405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Calibri"/>
                <a:ea typeface="Calibri"/>
                <a:cs typeface="Calibri"/>
                <a:sym typeface="Calibri"/>
              </a:rPr>
              <a:t>Teste Funcional</a:t>
            </a:r>
            <a:endParaRPr b="1" sz="3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531600" y="4227825"/>
            <a:ext cx="80808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Ao longo do desenvolvimento, você faz visitas periódicas, para verificar questões externas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575" y="1350525"/>
            <a:ext cx="3685600" cy="276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3100" y="1518188"/>
            <a:ext cx="3819525" cy="2428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/>
          <p:nvPr/>
        </p:nvSpPr>
        <p:spPr>
          <a:xfrm>
            <a:off x="1401750" y="55750"/>
            <a:ext cx="63405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Calibri"/>
                <a:ea typeface="Calibri"/>
                <a:cs typeface="Calibri"/>
                <a:sym typeface="Calibri"/>
              </a:rPr>
              <a:t>Teste Funcional</a:t>
            </a:r>
            <a:endParaRPr b="1" sz="3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872850" y="3921300"/>
            <a:ext cx="27159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Desenvolvimento de Software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16"/>
          <p:cNvPicPr preferRelativeResize="0"/>
          <p:nvPr/>
        </p:nvPicPr>
        <p:blipFill rotWithShape="1">
          <a:blip r:embed="rId3">
            <a:alphaModFix/>
          </a:blip>
          <a:srcRect b="36702" l="7374" r="76313" t="10602"/>
          <a:stretch/>
        </p:blipFill>
        <p:spPr>
          <a:xfrm>
            <a:off x="803800" y="1211600"/>
            <a:ext cx="3150730" cy="28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26800" y="1260550"/>
            <a:ext cx="3685600" cy="276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5368650" y="3921300"/>
            <a:ext cx="27159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Desenvolvimento de Casas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1359450" y="5119475"/>
            <a:ext cx="64251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Utilizando esta analogia para compreender a técnica de teste chamada 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latin typeface="Calibri"/>
                <a:ea typeface="Calibri"/>
                <a:cs typeface="Calibri"/>
                <a:sym typeface="Calibri"/>
              </a:rPr>
              <a:t>Teste Funcional</a:t>
            </a:r>
            <a:endParaRPr b="1" sz="1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/>
          <p:nvPr/>
        </p:nvSpPr>
        <p:spPr>
          <a:xfrm>
            <a:off x="239100" y="897175"/>
            <a:ext cx="8665800" cy="10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Teste Funcional = proprietário que realiza visitas de vistoria externa em sua futura casa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1401750" y="55750"/>
            <a:ext cx="63405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Calibri"/>
                <a:ea typeface="Calibri"/>
                <a:cs typeface="Calibri"/>
                <a:sym typeface="Calibri"/>
              </a:rPr>
              <a:t>Teste Funcional</a:t>
            </a:r>
            <a:endParaRPr b="1" sz="3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0" y="2390950"/>
            <a:ext cx="3770400" cy="3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latin typeface="Calibri"/>
                <a:ea typeface="Calibri"/>
                <a:cs typeface="Calibri"/>
                <a:sym typeface="Calibri"/>
              </a:rPr>
              <a:t>Especificação de Requisitos do Software</a:t>
            </a:r>
            <a:endParaRPr b="1"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Requisitos de uma função que um software deverá atender, realizar.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●"/>
            </a:pP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Incluir pessoa física;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●"/>
            </a:pP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Consultar cpf;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●"/>
            </a:pP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Emitir relatório de clientes.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3470550" y="2788750"/>
            <a:ext cx="1755600" cy="1291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Teste</a:t>
            </a:r>
            <a:endParaRPr b="1"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Funcional</a:t>
            </a:r>
            <a:endParaRPr b="1" sz="1800"/>
          </a:p>
        </p:txBody>
      </p:sp>
      <p:sp>
        <p:nvSpPr>
          <p:cNvPr id="136" name="Google Shape;136;p17"/>
          <p:cNvSpPr txBox="1"/>
          <p:nvPr/>
        </p:nvSpPr>
        <p:spPr>
          <a:xfrm>
            <a:off x="5145000" y="2283750"/>
            <a:ext cx="3999000" cy="6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-"/>
            </a:pPr>
            <a:r>
              <a:rPr b="1" lang="en-US" sz="1700">
                <a:latin typeface="Calibri"/>
                <a:ea typeface="Calibri"/>
                <a:cs typeface="Calibri"/>
                <a:sym typeface="Calibri"/>
              </a:rPr>
              <a:t>Projetar Casos de Teste </a:t>
            </a:r>
            <a:endParaRPr b="1" sz="1700">
              <a:latin typeface="Calibri"/>
              <a:ea typeface="Calibri"/>
              <a:cs typeface="Calibri"/>
              <a:sym typeface="Calibri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-"/>
            </a:pPr>
            <a:r>
              <a:rPr b="1" lang="en-US" sz="1700">
                <a:latin typeface="Calibri"/>
                <a:ea typeface="Calibri"/>
                <a:cs typeface="Calibri"/>
                <a:sym typeface="Calibri"/>
              </a:rPr>
              <a:t>Par (entrada, saída esperada)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/>
          <p:nvPr/>
        </p:nvSpPr>
        <p:spPr>
          <a:xfrm rot="5400000">
            <a:off x="6680850" y="3041200"/>
            <a:ext cx="927300" cy="78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</p:txBody>
      </p:sp>
      <p:sp>
        <p:nvSpPr>
          <p:cNvPr id="138" name="Google Shape;138;p17"/>
          <p:cNvSpPr/>
          <p:nvPr/>
        </p:nvSpPr>
        <p:spPr>
          <a:xfrm>
            <a:off x="4237475" y="4130750"/>
            <a:ext cx="1210200" cy="8070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Entrada</a:t>
            </a:r>
            <a:endParaRPr b="1"/>
          </a:p>
        </p:txBody>
      </p:sp>
      <p:sp>
        <p:nvSpPr>
          <p:cNvPr id="139" name="Google Shape;139;p17"/>
          <p:cNvSpPr txBox="1"/>
          <p:nvPr/>
        </p:nvSpPr>
        <p:spPr>
          <a:xfrm>
            <a:off x="5858688" y="4164350"/>
            <a:ext cx="1562700" cy="739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PROGRAMA</a:t>
            </a:r>
            <a:endParaRPr b="1"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7832400" y="4130750"/>
            <a:ext cx="1210200" cy="8070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Saída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Obtida</a:t>
            </a:r>
            <a:endParaRPr b="1"/>
          </a:p>
        </p:txBody>
      </p:sp>
      <p:sp>
        <p:nvSpPr>
          <p:cNvPr id="141" name="Google Shape;141;p17"/>
          <p:cNvSpPr/>
          <p:nvPr/>
        </p:nvSpPr>
        <p:spPr>
          <a:xfrm>
            <a:off x="7570051" y="5215000"/>
            <a:ext cx="1562700" cy="9273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Saída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Esperada</a:t>
            </a:r>
            <a:endParaRPr b="1"/>
          </a:p>
        </p:txBody>
      </p:sp>
      <p:cxnSp>
        <p:nvCxnSpPr>
          <p:cNvPr id="142" name="Google Shape;142;p17"/>
          <p:cNvCxnSpPr>
            <a:stCxn id="138" idx="6"/>
            <a:endCxn id="139" idx="1"/>
          </p:cNvCxnSpPr>
          <p:nvPr/>
        </p:nvCxnSpPr>
        <p:spPr>
          <a:xfrm>
            <a:off x="5447675" y="4534250"/>
            <a:ext cx="411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" name="Google Shape;143;p17"/>
          <p:cNvCxnSpPr>
            <a:stCxn id="139" idx="3"/>
            <a:endCxn id="140" idx="2"/>
          </p:cNvCxnSpPr>
          <p:nvPr/>
        </p:nvCxnSpPr>
        <p:spPr>
          <a:xfrm>
            <a:off x="7421388" y="4534250"/>
            <a:ext cx="411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" name="Google Shape;144;p17"/>
          <p:cNvCxnSpPr>
            <a:stCxn id="138" idx="4"/>
            <a:endCxn id="141" idx="2"/>
          </p:cNvCxnSpPr>
          <p:nvPr/>
        </p:nvCxnSpPr>
        <p:spPr>
          <a:xfrm flipH="1" rot="-5400000">
            <a:off x="5835875" y="3944450"/>
            <a:ext cx="741000" cy="2727600"/>
          </a:xfrm>
          <a:prstGeom prst="bentConnector2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45" name="Google Shape;145;p17"/>
          <p:cNvSpPr txBox="1"/>
          <p:nvPr/>
        </p:nvSpPr>
        <p:spPr>
          <a:xfrm>
            <a:off x="7997400" y="6124150"/>
            <a:ext cx="907500" cy="6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9900FF"/>
                </a:solidFill>
                <a:latin typeface="Calibri"/>
                <a:ea typeface="Calibri"/>
                <a:cs typeface="Calibri"/>
                <a:sym typeface="Calibri"/>
              </a:rPr>
              <a:t>São</a:t>
            </a:r>
            <a:endParaRPr b="1" sz="1700">
              <a:solidFill>
                <a:srgbClr val="99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9900FF"/>
                </a:solidFill>
                <a:latin typeface="Calibri"/>
                <a:ea typeface="Calibri"/>
                <a:cs typeface="Calibri"/>
                <a:sym typeface="Calibri"/>
              </a:rPr>
              <a:t>iguais?</a:t>
            </a:r>
            <a:endParaRPr b="1" sz="1700">
              <a:solidFill>
                <a:srgbClr val="99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8"/>
          <p:cNvSpPr txBox="1"/>
          <p:nvPr/>
        </p:nvSpPr>
        <p:spPr>
          <a:xfrm>
            <a:off x="239100" y="897175"/>
            <a:ext cx="8665800" cy="5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Tende a responder perguntas do tipo: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… o usuário consegue fazer isso?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... essa funcionalidade funciona?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Como resultado, podem ser reveladas inconformidades com os objetivos especificados.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funções incorretas ou ausentes;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erros na interface;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erros em estruturas de dados;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erro de acesso à software externos;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bem como erros de inicialização e término.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1401750" y="55750"/>
            <a:ext cx="63405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Calibri"/>
                <a:ea typeface="Calibri"/>
                <a:cs typeface="Calibri"/>
                <a:sym typeface="Calibri"/>
              </a:rPr>
              <a:t>Teste Funcional</a:t>
            </a:r>
            <a:endParaRPr b="1" sz="33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2775" y="3123125"/>
            <a:ext cx="3711226" cy="3711226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9"/>
          <p:cNvPicPr preferRelativeResize="0"/>
          <p:nvPr/>
        </p:nvPicPr>
        <p:blipFill rotWithShape="1">
          <a:blip r:embed="rId3">
            <a:alphaModFix/>
          </a:blip>
          <a:srcRect b="16075" l="25261" r="25458" t="16526"/>
          <a:stretch/>
        </p:blipFill>
        <p:spPr>
          <a:xfrm>
            <a:off x="3281675" y="1441371"/>
            <a:ext cx="2436288" cy="249891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>
            <a:off x="239100" y="592375"/>
            <a:ext cx="8665800" cy="8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Como os critérios de teste funcional baseiam-se na especificação do produto testado ...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1401750" y="-20450"/>
            <a:ext cx="63405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Calibri"/>
                <a:ea typeface="Calibri"/>
                <a:cs typeface="Calibri"/>
                <a:sym typeface="Calibri"/>
              </a:rPr>
              <a:t>Teste Funcional</a:t>
            </a:r>
            <a:endParaRPr b="1" sz="3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5" name="Google Shape;16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9088" y="1519325"/>
            <a:ext cx="1884025" cy="1720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-733425" y="3051700"/>
            <a:ext cx="3999000" cy="6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latin typeface="Calibri"/>
                <a:ea typeface="Calibri"/>
                <a:cs typeface="Calibri"/>
                <a:sym typeface="Calibri"/>
              </a:rPr>
              <a:t>Requer boa especificação </a:t>
            </a:r>
            <a:endParaRPr b="1"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latin typeface="Calibri"/>
                <a:ea typeface="Calibri"/>
                <a:cs typeface="Calibri"/>
                <a:sym typeface="Calibri"/>
              </a:rPr>
              <a:t>dos requisitos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7" name="Google Shape;167;p19"/>
          <p:cNvGrpSpPr/>
          <p:nvPr/>
        </p:nvGrpSpPr>
        <p:grpSpPr>
          <a:xfrm>
            <a:off x="1200617" y="4547493"/>
            <a:ext cx="1593513" cy="1593513"/>
            <a:chOff x="4303290" y="2158374"/>
            <a:chExt cx="1854000" cy="1854000"/>
          </a:xfrm>
        </p:grpSpPr>
        <p:sp>
          <p:nvSpPr>
            <p:cNvPr id="168" name="Google Shape;168;p19"/>
            <p:cNvSpPr/>
            <p:nvPr/>
          </p:nvSpPr>
          <p:spPr>
            <a:xfrm>
              <a:off x="4303290" y="2158374"/>
              <a:ext cx="1854000" cy="1854000"/>
            </a:xfrm>
            <a:prstGeom prst="ellipse">
              <a:avLst/>
            </a:prstGeom>
            <a:solidFill>
              <a:srgbClr val="0B7743"/>
            </a:solidFill>
            <a:ln cap="flat" cmpd="sng" w="28575">
              <a:solidFill>
                <a:srgbClr val="65F0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9"/>
            <p:cNvSpPr txBox="1"/>
            <p:nvPr/>
          </p:nvSpPr>
          <p:spPr>
            <a:xfrm>
              <a:off x="5010351" y="2937027"/>
              <a:ext cx="1075200" cy="52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Integração</a:t>
              </a:r>
              <a:endParaRPr b="1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0" name="Google Shape;170;p19"/>
          <p:cNvGrpSpPr/>
          <p:nvPr/>
        </p:nvGrpSpPr>
        <p:grpSpPr>
          <a:xfrm>
            <a:off x="69019" y="4547493"/>
            <a:ext cx="1593513" cy="1593513"/>
            <a:chOff x="2986712" y="2158374"/>
            <a:chExt cx="1854000" cy="1854000"/>
          </a:xfrm>
        </p:grpSpPr>
        <p:sp>
          <p:nvSpPr>
            <p:cNvPr id="171" name="Google Shape;171;p19"/>
            <p:cNvSpPr/>
            <p:nvPr/>
          </p:nvSpPr>
          <p:spPr>
            <a:xfrm>
              <a:off x="2986712" y="2158374"/>
              <a:ext cx="1854000" cy="1854000"/>
            </a:xfrm>
            <a:prstGeom prst="ellipse">
              <a:avLst/>
            </a:prstGeom>
            <a:solidFill>
              <a:srgbClr val="0E9453"/>
            </a:solidFill>
            <a:ln cap="flat" cmpd="sng" w="28575">
              <a:solidFill>
                <a:srgbClr val="65F0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9"/>
            <p:cNvSpPr txBox="1"/>
            <p:nvPr/>
          </p:nvSpPr>
          <p:spPr>
            <a:xfrm>
              <a:off x="3134188" y="2937027"/>
              <a:ext cx="1075200" cy="52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Sistema</a:t>
              </a:r>
              <a:endPara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3" name="Google Shape;173;p19"/>
          <p:cNvGrpSpPr/>
          <p:nvPr/>
        </p:nvGrpSpPr>
        <p:grpSpPr>
          <a:xfrm>
            <a:off x="644997" y="3664584"/>
            <a:ext cx="1593513" cy="1593513"/>
            <a:chOff x="3656844" y="1131139"/>
            <a:chExt cx="1854000" cy="1854000"/>
          </a:xfrm>
        </p:grpSpPr>
        <p:sp>
          <p:nvSpPr>
            <p:cNvPr id="174" name="Google Shape;174;p19"/>
            <p:cNvSpPr/>
            <p:nvPr/>
          </p:nvSpPr>
          <p:spPr>
            <a:xfrm>
              <a:off x="3656844" y="1131139"/>
              <a:ext cx="1854000" cy="1854000"/>
            </a:xfrm>
            <a:prstGeom prst="ellipse">
              <a:avLst/>
            </a:prstGeom>
            <a:solidFill>
              <a:srgbClr val="085631"/>
            </a:solidFill>
            <a:ln cap="flat" cmpd="sng" w="28575">
              <a:solidFill>
                <a:srgbClr val="65F0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9"/>
            <p:cNvSpPr txBox="1"/>
            <p:nvPr/>
          </p:nvSpPr>
          <p:spPr>
            <a:xfrm>
              <a:off x="3938537" y="1507884"/>
              <a:ext cx="1290600" cy="52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Unidade</a:t>
              </a:r>
              <a:endPara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76" name="Google Shape;176;p19"/>
          <p:cNvSpPr txBox="1"/>
          <p:nvPr/>
        </p:nvSpPr>
        <p:spPr>
          <a:xfrm>
            <a:off x="-581025" y="6120850"/>
            <a:ext cx="3999000" cy="6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latin typeface="Calibri"/>
                <a:ea typeface="Calibri"/>
                <a:cs typeface="Calibri"/>
                <a:sym typeface="Calibri"/>
              </a:rPr>
              <a:t>Aplicada em todas </a:t>
            </a:r>
            <a:endParaRPr b="1"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latin typeface="Calibri"/>
                <a:ea typeface="Calibri"/>
                <a:cs typeface="Calibri"/>
                <a:sym typeface="Calibri"/>
              </a:rPr>
              <a:t>as fases de teste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44190" y="3930450"/>
            <a:ext cx="2681910" cy="267520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2581125" y="6284800"/>
            <a:ext cx="3999000" cy="6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latin typeface="Calibri"/>
                <a:ea typeface="Calibri"/>
                <a:cs typeface="Calibri"/>
                <a:sym typeface="Calibri"/>
              </a:rPr>
              <a:t>Permite equipes </a:t>
            </a:r>
            <a:endParaRPr b="1"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latin typeface="Calibri"/>
                <a:ea typeface="Calibri"/>
                <a:cs typeface="Calibri"/>
                <a:sym typeface="Calibri"/>
              </a:rPr>
              <a:t>independentes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57950" y="3930455"/>
            <a:ext cx="2057400" cy="2134094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5487138" y="6002450"/>
            <a:ext cx="3999000" cy="6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latin typeface="Calibri"/>
                <a:ea typeface="Calibri"/>
                <a:cs typeface="Calibri"/>
                <a:sym typeface="Calibri"/>
              </a:rPr>
              <a:t>Realizada de forma manual e/ou automática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79344" y="1769624"/>
            <a:ext cx="2964656" cy="159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5734063" y="3247975"/>
            <a:ext cx="3999000" cy="6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latin typeface="Calibri"/>
                <a:ea typeface="Calibri"/>
                <a:cs typeface="Calibri"/>
                <a:sym typeface="Calibri"/>
              </a:rPr>
              <a:t>Aplicada em produtos criados</a:t>
            </a:r>
            <a:endParaRPr b="1"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latin typeface="Calibri"/>
                <a:ea typeface="Calibri"/>
                <a:cs typeface="Calibri"/>
                <a:sym typeface="Calibri"/>
              </a:rPr>
              <a:t>em diversos paradigmas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0"/>
          <p:cNvSpPr txBox="1"/>
          <p:nvPr/>
        </p:nvSpPr>
        <p:spPr>
          <a:xfrm>
            <a:off x="239100" y="897175"/>
            <a:ext cx="8665800" cy="5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Visão Geral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Identificar as funções que o software deve realizar;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Projetar casos de teste capazes de checar se essas 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funções estão sendo realizadas pelo software;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Executar os casos de teste;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Comparar os resultados computados e os resultados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previamente identificados;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1401750" y="55750"/>
            <a:ext cx="63405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Calibri"/>
                <a:ea typeface="Calibri"/>
                <a:cs typeface="Calibri"/>
                <a:sym typeface="Calibri"/>
              </a:rPr>
              <a:t>Teste Funcional</a:t>
            </a:r>
            <a:endParaRPr b="1" sz="3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1" name="Google Shape;191;p20"/>
          <p:cNvPicPr preferRelativeResize="0"/>
          <p:nvPr/>
        </p:nvPicPr>
        <p:blipFill rotWithShape="1">
          <a:blip r:embed="rId3">
            <a:alphaModFix/>
          </a:blip>
          <a:srcRect b="0" l="24387" r="24284" t="0"/>
          <a:stretch/>
        </p:blipFill>
        <p:spPr>
          <a:xfrm>
            <a:off x="7398215" y="55750"/>
            <a:ext cx="1745786" cy="680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1"/>
          <p:cNvSpPr txBox="1"/>
          <p:nvPr/>
        </p:nvSpPr>
        <p:spPr>
          <a:xfrm>
            <a:off x="239100" y="5233725"/>
            <a:ext cx="8665800" cy="11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Critérios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podem ser utilizados a fim de </a:t>
            </a: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identificar casos de teste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mais </a:t>
            </a: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adequados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e que possuem maior </a:t>
            </a: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cobertura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do software, por exemplo, usando </a:t>
            </a: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particionamento em classes de equivalência, análise do valor limite, teste funcional sistemático, grafo de causa-efeito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dentre outros critérios</a:t>
            </a: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1"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1401750" y="55750"/>
            <a:ext cx="63405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Calibri"/>
                <a:ea typeface="Calibri"/>
                <a:cs typeface="Calibri"/>
                <a:sym typeface="Calibri"/>
              </a:rPr>
              <a:t>Teste Funcional</a:t>
            </a:r>
            <a:endParaRPr b="1" sz="3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0" name="Google Shape;200;p21"/>
          <p:cNvPicPr preferRelativeResize="0"/>
          <p:nvPr/>
        </p:nvPicPr>
        <p:blipFill rotWithShape="1">
          <a:blip r:embed="rId3">
            <a:alphaModFix/>
          </a:blip>
          <a:srcRect b="0" l="53302" r="0" t="53302"/>
          <a:stretch/>
        </p:blipFill>
        <p:spPr>
          <a:xfrm>
            <a:off x="3781076" y="858900"/>
            <a:ext cx="2953449" cy="1968972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924900" y="1513088"/>
            <a:ext cx="2861100" cy="6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latin typeface="Calibri"/>
                <a:ea typeface="Calibri"/>
                <a:cs typeface="Calibri"/>
                <a:sym typeface="Calibri"/>
              </a:rPr>
              <a:t>Domínio de entrada</a:t>
            </a:r>
            <a:endParaRPr b="1"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latin typeface="Calibri"/>
                <a:ea typeface="Calibri"/>
                <a:cs typeface="Calibri"/>
                <a:sym typeface="Calibri"/>
              </a:rPr>
              <a:t>(infinito ou muito grande)</a:t>
            </a:r>
            <a:endParaRPr b="1" sz="17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2" name="Google Shape;202;p21"/>
          <p:cNvPicPr preferRelativeResize="0"/>
          <p:nvPr/>
        </p:nvPicPr>
        <p:blipFill rotWithShape="1">
          <a:blip r:embed="rId4">
            <a:alphaModFix/>
          </a:blip>
          <a:srcRect b="25127" l="7348" r="57085" t="42509"/>
          <a:stretch/>
        </p:blipFill>
        <p:spPr>
          <a:xfrm>
            <a:off x="1538400" y="3312038"/>
            <a:ext cx="7438800" cy="1903651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/>
          <p:nvPr/>
        </p:nvSpPr>
        <p:spPr>
          <a:xfrm>
            <a:off x="-330125" y="3312038"/>
            <a:ext cx="2861100" cy="6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latin typeface="Calibri"/>
                <a:ea typeface="Calibri"/>
                <a:cs typeface="Calibri"/>
                <a:sym typeface="Calibri"/>
              </a:rPr>
              <a:t>Critérios</a:t>
            </a:r>
            <a:endParaRPr b="1" sz="17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2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10" name="Google Shape;210;p22"/>
          <p:cNvGrpSpPr/>
          <p:nvPr/>
        </p:nvGrpSpPr>
        <p:grpSpPr>
          <a:xfrm>
            <a:off x="2328880" y="1185875"/>
            <a:ext cx="4486240" cy="4486240"/>
            <a:chOff x="2820225" y="891450"/>
            <a:chExt cx="3175200" cy="3175200"/>
          </a:xfrm>
        </p:grpSpPr>
        <p:sp>
          <p:nvSpPr>
            <p:cNvPr id="211" name="Google Shape;211;p22"/>
            <p:cNvSpPr/>
            <p:nvPr/>
          </p:nvSpPr>
          <p:spPr>
            <a:xfrm rot="10800000">
              <a:off x="2820225" y="891450"/>
              <a:ext cx="3175200" cy="3175200"/>
            </a:xfrm>
            <a:prstGeom prst="blockArc">
              <a:avLst>
                <a:gd fmla="val 5399801" name="adj1"/>
                <a:gd fmla="val 3012680" name="adj2"/>
                <a:gd fmla="val 6939" name="adj3"/>
              </a:avLst>
            </a:prstGeom>
            <a:solidFill>
              <a:srgbClr val="83E3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2"/>
            <p:cNvSpPr/>
            <p:nvPr/>
          </p:nvSpPr>
          <p:spPr>
            <a:xfrm rot="10800000">
              <a:off x="3175023" y="1179900"/>
              <a:ext cx="450600" cy="450600"/>
            </a:xfrm>
            <a:prstGeom prst="rtTriangle">
              <a:avLst/>
            </a:prstGeom>
            <a:solidFill>
              <a:srgbClr val="83E3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3" name="Google Shape;213;p22"/>
          <p:cNvSpPr/>
          <p:nvPr/>
        </p:nvSpPr>
        <p:spPr>
          <a:xfrm>
            <a:off x="4522344" y="651788"/>
            <a:ext cx="2080500" cy="9834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Requer a especificação do produto para derivar os casos de teste.</a:t>
            </a:r>
            <a:endParaRPr b="1" sz="1900">
              <a:solidFill>
                <a:srgbClr val="FFFFFF"/>
              </a:solidFill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646437" y="4036453"/>
            <a:ext cx="2080500" cy="9834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Critérios baseados na especificação do produto testado.</a:t>
            </a:r>
            <a:endParaRPr b="1" sz="1900">
              <a:solidFill>
                <a:srgbClr val="FFFFFF"/>
              </a:solidFill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3622963" y="5450205"/>
            <a:ext cx="2080500" cy="9834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Pode ser aplicada em todas as fases de teste (unidade, integração, sistema, etc.)</a:t>
            </a:r>
            <a:endParaRPr b="1" sz="1900">
              <a:solidFill>
                <a:srgbClr val="FFFFFF"/>
              </a:solidFill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6417051" y="1979053"/>
            <a:ext cx="2080500" cy="9834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Reflete a ótica do usuário, stakeholder em utilizar o programa.</a:t>
            </a:r>
            <a:endParaRPr b="1" sz="1900">
              <a:solidFill>
                <a:srgbClr val="FFFFFF"/>
              </a:solidFill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6360312" y="4231005"/>
            <a:ext cx="2080500" cy="9834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Pode ser aplicada a qualquer programa.</a:t>
            </a:r>
            <a:endParaRPr b="1" sz="1900">
              <a:solidFill>
                <a:srgbClr val="FFFFFF"/>
              </a:solidFill>
            </a:endParaRPr>
          </a:p>
        </p:txBody>
      </p:sp>
      <p:sp>
        <p:nvSpPr>
          <p:cNvPr id="218" name="Google Shape;218;p22"/>
          <p:cNvSpPr txBox="1"/>
          <p:nvPr/>
        </p:nvSpPr>
        <p:spPr>
          <a:xfrm>
            <a:off x="2920950" y="3055000"/>
            <a:ext cx="33021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highlight>
                  <a:srgbClr val="88CFC8"/>
                </a:highlight>
                <a:latin typeface="Calibri"/>
                <a:ea typeface="Calibri"/>
                <a:cs typeface="Calibri"/>
                <a:sym typeface="Calibri"/>
              </a:rPr>
              <a:t>Teste Funcional</a:t>
            </a:r>
            <a:endParaRPr b="1" sz="3600">
              <a:solidFill>
                <a:srgbClr val="FFFFFF"/>
              </a:solidFill>
              <a:highlight>
                <a:srgbClr val="88CFC8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570237" y="1902853"/>
            <a:ext cx="2080500" cy="9834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Cada critério explora tipos de defeitos utilizando valores específicos do domínio de entrada.</a:t>
            </a:r>
            <a:endParaRPr b="1" sz="19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3"/>
          <p:cNvSpPr/>
          <p:nvPr/>
        </p:nvSpPr>
        <p:spPr>
          <a:xfrm>
            <a:off x="394376" y="5573123"/>
            <a:ext cx="21645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300" lIns="50625" spcFirstLastPara="1" rIns="50625" wrap="square" tIns="25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Raphael Muniz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424856" y="5880780"/>
            <a:ext cx="23379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300" lIns="50625" spcFirstLastPara="1" rIns="50625" wrap="square" tIns="25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en-US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raphael.muniz</a:t>
            </a:r>
            <a:r>
              <a:rPr b="0" i="0" lang="en-US" u="none" cap="none" strike="noStrik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@</a:t>
            </a:r>
            <a:r>
              <a:rPr lang="en-US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ifrn.edu.br</a:t>
            </a:r>
            <a:endParaRPr b="0" i="0" u="none" cap="none" strike="noStrik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226" name="Google Shape;226;p23"/>
          <p:cNvSpPr txBox="1"/>
          <p:nvPr>
            <p:ph idx="4294967295" type="ctrTitle"/>
          </p:nvPr>
        </p:nvSpPr>
        <p:spPr>
          <a:xfrm>
            <a:off x="0" y="2533652"/>
            <a:ext cx="9144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US" sz="6200">
                <a:solidFill>
                  <a:srgbClr val="FF9900"/>
                </a:solidFill>
              </a:rPr>
              <a:t>Critério Particionamento em Classes de Equivalência</a:t>
            </a:r>
            <a:endParaRPr b="1" sz="6200">
              <a:solidFill>
                <a:srgbClr val="FF9900"/>
              </a:solidFill>
            </a:endParaRPr>
          </a:p>
        </p:txBody>
      </p:sp>
      <p:pic>
        <p:nvPicPr>
          <p:cNvPr id="227" name="Google Shape;22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1325" y="5237875"/>
            <a:ext cx="3181350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 txBox="1"/>
          <p:nvPr/>
        </p:nvSpPr>
        <p:spPr>
          <a:xfrm>
            <a:off x="239100" y="897175"/>
            <a:ext cx="8665800" cy="5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Alguns critérios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Particionamento em classes de equivalência;</a:t>
            </a:r>
            <a:endParaRPr b="1"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Análise de valor limite;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Grafo causa-efeito;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Error guessing;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Teste Funcional sistemático;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Entre outros.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Todos os critérios baseiam-se na especificação do produto testado.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" name="Google Shape;234;p24"/>
          <p:cNvSpPr txBox="1"/>
          <p:nvPr/>
        </p:nvSpPr>
        <p:spPr>
          <a:xfrm>
            <a:off x="1401750" y="55750"/>
            <a:ext cx="63405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Calibri"/>
                <a:ea typeface="Calibri"/>
                <a:cs typeface="Calibri"/>
                <a:sym typeface="Calibri"/>
              </a:rPr>
              <a:t>Teste Funcional</a:t>
            </a:r>
            <a:endParaRPr b="1" sz="3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4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5"/>
          <p:cNvSpPr txBox="1"/>
          <p:nvPr/>
        </p:nvSpPr>
        <p:spPr>
          <a:xfrm>
            <a:off x="239100" y="585525"/>
            <a:ext cx="86658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Critério Particionamento em Classes de Equivalência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25"/>
          <p:cNvSpPr txBox="1"/>
          <p:nvPr/>
        </p:nvSpPr>
        <p:spPr>
          <a:xfrm>
            <a:off x="1401750" y="55750"/>
            <a:ext cx="63405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Calibri"/>
                <a:ea typeface="Calibri"/>
                <a:cs typeface="Calibri"/>
                <a:sym typeface="Calibri"/>
              </a:rPr>
              <a:t>Teste Funcional</a:t>
            </a:r>
            <a:endParaRPr b="1" sz="3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5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4" name="Google Shape;244;p25"/>
          <p:cNvSpPr txBox="1"/>
          <p:nvPr/>
        </p:nvSpPr>
        <p:spPr>
          <a:xfrm>
            <a:off x="239100" y="1235700"/>
            <a:ext cx="8665800" cy="53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Exemplo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Especificação do programa </a:t>
            </a:r>
            <a:r>
              <a:rPr i="1"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Identifier</a:t>
            </a: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“O programa deve determinar se um identificador é válido ou não. Um identificador válido deve começar com uma letra e conter apenas letras ou dígitos. Além disso, deve ter o mínimo de um caractere e o máximo de seis caracteres de comprimento.”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6"/>
          <p:cNvPicPr preferRelativeResize="0"/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1059477" y="756525"/>
            <a:ext cx="7025051" cy="52176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1" name="Google Shape;251;p26"/>
          <p:cNvCxnSpPr/>
          <p:nvPr/>
        </p:nvCxnSpPr>
        <p:spPr>
          <a:xfrm>
            <a:off x="403950" y="4757925"/>
            <a:ext cx="8564700" cy="0"/>
          </a:xfrm>
          <a:prstGeom prst="straightConnector1">
            <a:avLst/>
          </a:prstGeom>
          <a:noFill/>
          <a:ln cap="flat" cmpd="sng" w="2286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" name="Google Shape;252;p26"/>
          <p:cNvCxnSpPr/>
          <p:nvPr/>
        </p:nvCxnSpPr>
        <p:spPr>
          <a:xfrm>
            <a:off x="403950" y="4986525"/>
            <a:ext cx="8564700" cy="0"/>
          </a:xfrm>
          <a:prstGeom prst="straightConnector1">
            <a:avLst/>
          </a:prstGeom>
          <a:noFill/>
          <a:ln cap="flat" cmpd="sng" w="2286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" name="Google Shape;253;p26"/>
          <p:cNvSpPr txBox="1"/>
          <p:nvPr/>
        </p:nvSpPr>
        <p:spPr>
          <a:xfrm>
            <a:off x="1125450" y="3646825"/>
            <a:ext cx="6359700" cy="21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0">
                <a:latin typeface="Calibri"/>
                <a:ea typeface="Calibri"/>
                <a:cs typeface="Calibri"/>
                <a:sym typeface="Calibri"/>
              </a:rPr>
              <a:t>TEST</a:t>
            </a:r>
            <a:endParaRPr b="1" sz="20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7"/>
          <p:cNvSpPr txBox="1"/>
          <p:nvPr/>
        </p:nvSpPr>
        <p:spPr>
          <a:xfrm>
            <a:off x="437975" y="218225"/>
            <a:ext cx="8258700" cy="44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ATV 03 - ClassRoom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</a:pP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Tente listar pares de casos de teste (entrada e saída esperada) cobrindo toda a especificação descrita.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8"/>
          <p:cNvSpPr txBox="1"/>
          <p:nvPr/>
        </p:nvSpPr>
        <p:spPr>
          <a:xfrm>
            <a:off x="239100" y="814125"/>
            <a:ext cx="8665800" cy="25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Critério Particionamento em Classes de Equivalência</a:t>
            </a:r>
            <a:endParaRPr b="1"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Divide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 </a:t>
            </a: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domínio de entradas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em </a:t>
            </a: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classes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de equivalência (subconjuntos) que, de acordo com a especificação do programa, podem ser tratados da mesma maneira.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Qualquer elemento (dado de teste) selecionado deve representar o subconjunto que ele faz parte.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" name="Google Shape;266;p28"/>
          <p:cNvSpPr txBox="1"/>
          <p:nvPr/>
        </p:nvSpPr>
        <p:spPr>
          <a:xfrm>
            <a:off x="1401750" y="55750"/>
            <a:ext cx="63405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Calibri"/>
                <a:ea typeface="Calibri"/>
                <a:cs typeface="Calibri"/>
                <a:sym typeface="Calibri"/>
              </a:rPr>
              <a:t>Teste Funcional</a:t>
            </a:r>
            <a:endParaRPr b="1" sz="3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8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8" name="Google Shape;268;p28"/>
          <p:cNvPicPr preferRelativeResize="0"/>
          <p:nvPr/>
        </p:nvPicPr>
        <p:blipFill rotWithShape="1">
          <a:blip r:embed="rId3">
            <a:alphaModFix/>
          </a:blip>
          <a:srcRect b="0" l="53302" r="0" t="53302"/>
          <a:stretch/>
        </p:blipFill>
        <p:spPr>
          <a:xfrm>
            <a:off x="4907200" y="3579362"/>
            <a:ext cx="1972191" cy="13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8"/>
          <p:cNvSpPr txBox="1"/>
          <p:nvPr/>
        </p:nvSpPr>
        <p:spPr>
          <a:xfrm>
            <a:off x="2285725" y="3982650"/>
            <a:ext cx="2861100" cy="6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latin typeface="Calibri"/>
                <a:ea typeface="Calibri"/>
                <a:cs typeface="Calibri"/>
                <a:sym typeface="Calibri"/>
              </a:rPr>
              <a:t>Domínio de entrada</a:t>
            </a:r>
            <a:endParaRPr b="1"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latin typeface="Calibri"/>
                <a:ea typeface="Calibri"/>
                <a:cs typeface="Calibri"/>
                <a:sym typeface="Calibri"/>
              </a:rPr>
              <a:t>(infinito ou muito grande)</a:t>
            </a:r>
            <a:endParaRPr b="1" sz="17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0" name="Google Shape;270;p28"/>
          <p:cNvPicPr preferRelativeResize="0"/>
          <p:nvPr/>
        </p:nvPicPr>
        <p:blipFill rotWithShape="1">
          <a:blip r:embed="rId4">
            <a:alphaModFix/>
          </a:blip>
          <a:srcRect b="25127" l="7348" r="57085" t="42509"/>
          <a:stretch/>
        </p:blipFill>
        <p:spPr>
          <a:xfrm>
            <a:off x="2809400" y="5237498"/>
            <a:ext cx="6167798" cy="1578401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8"/>
          <p:cNvSpPr txBox="1"/>
          <p:nvPr/>
        </p:nvSpPr>
        <p:spPr>
          <a:xfrm>
            <a:off x="924900" y="5343513"/>
            <a:ext cx="2861100" cy="6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latin typeface="Calibri"/>
                <a:ea typeface="Calibri"/>
                <a:cs typeface="Calibri"/>
                <a:sym typeface="Calibri"/>
              </a:rPr>
              <a:t>Critérios</a:t>
            </a:r>
            <a:endParaRPr b="1" sz="17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9"/>
          <p:cNvSpPr txBox="1"/>
          <p:nvPr/>
        </p:nvSpPr>
        <p:spPr>
          <a:xfrm>
            <a:off x="239100" y="814125"/>
            <a:ext cx="8665800" cy="55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Critério Particionamento em Classes de Equivalência</a:t>
            </a:r>
            <a:endParaRPr b="1"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b="1"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Passo 1: A partir da especificação do software, identificar as classes de equivalência.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Para ajudar na identificação das classes, analise a especificação do produto procurando por termos como </a:t>
            </a:r>
            <a:r>
              <a:rPr b="1"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intervalo</a:t>
            </a: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e </a:t>
            </a:r>
            <a:r>
              <a:rPr b="1"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conjunto, </a:t>
            </a: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 palavras similares.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Verifique as diretrizes para definir as classes;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 elementos de uma mesma classe forem tratados de forma diferente, divida tal classes em outras menores.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Defina classes válidas e inválidas.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b="1"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Passo 2: Gerar casos de teste selecionando um elemento de cada classe.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Identificadas as classes, escolha de forma arbitrária os elementos de cada uma;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Os casos de teste são então definidos para as classes válidas e inválidas.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" name="Google Shape;278;p29"/>
          <p:cNvSpPr txBox="1"/>
          <p:nvPr/>
        </p:nvSpPr>
        <p:spPr>
          <a:xfrm>
            <a:off x="1401750" y="55750"/>
            <a:ext cx="63405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Calibri"/>
                <a:ea typeface="Calibri"/>
                <a:cs typeface="Calibri"/>
                <a:sym typeface="Calibri"/>
              </a:rPr>
              <a:t>Teste Funcional</a:t>
            </a:r>
            <a:endParaRPr b="1" sz="3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9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0"/>
          <p:cNvSpPr txBox="1"/>
          <p:nvPr/>
        </p:nvSpPr>
        <p:spPr>
          <a:xfrm>
            <a:off x="239100" y="585525"/>
            <a:ext cx="86658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Critério Particionamento em Classes de Equivalência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" name="Google Shape;286;p30"/>
          <p:cNvSpPr txBox="1"/>
          <p:nvPr/>
        </p:nvSpPr>
        <p:spPr>
          <a:xfrm>
            <a:off x="1401750" y="55750"/>
            <a:ext cx="63405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Calibri"/>
                <a:ea typeface="Calibri"/>
                <a:cs typeface="Calibri"/>
                <a:sym typeface="Calibri"/>
              </a:rPr>
              <a:t>Teste Funcional</a:t>
            </a:r>
            <a:endParaRPr b="1" sz="3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30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88" name="Google Shape;288;p30"/>
          <p:cNvGrpSpPr/>
          <p:nvPr/>
        </p:nvGrpSpPr>
        <p:grpSpPr>
          <a:xfrm>
            <a:off x="4513724" y="1205666"/>
            <a:ext cx="2281027" cy="786584"/>
            <a:chOff x="4526674" y="2800065"/>
            <a:chExt cx="2281027" cy="786584"/>
          </a:xfrm>
        </p:grpSpPr>
        <p:sp>
          <p:nvSpPr>
            <p:cNvPr id="289" name="Google Shape;289;p30"/>
            <p:cNvSpPr/>
            <p:nvPr/>
          </p:nvSpPr>
          <p:spPr>
            <a:xfrm>
              <a:off x="4849302" y="3079475"/>
              <a:ext cx="1958400" cy="133500"/>
            </a:xfrm>
            <a:prstGeom prst="rect">
              <a:avLst/>
            </a:prstGeom>
            <a:solidFill>
              <a:srgbClr val="0E94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0" name="Google Shape;290;p30"/>
            <p:cNvGrpSpPr/>
            <p:nvPr/>
          </p:nvGrpSpPr>
          <p:grpSpPr>
            <a:xfrm>
              <a:off x="4526674" y="2800065"/>
              <a:ext cx="795000" cy="786584"/>
              <a:chOff x="4526674" y="2800065"/>
              <a:chExt cx="795000" cy="786584"/>
            </a:xfrm>
          </p:grpSpPr>
          <p:grpSp>
            <p:nvGrpSpPr>
              <p:cNvPr id="291" name="Google Shape;291;p30"/>
              <p:cNvGrpSpPr/>
              <p:nvPr/>
            </p:nvGrpSpPr>
            <p:grpSpPr>
              <a:xfrm>
                <a:off x="4808316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292" name="Google Shape;292;p30"/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93" name="Google Shape;293;p30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94" name="Google Shape;294;p30"/>
              <p:cNvSpPr txBox="1"/>
              <p:nvPr/>
            </p:nvSpPr>
            <p:spPr>
              <a:xfrm>
                <a:off x="4526674" y="3215248"/>
                <a:ext cx="7950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en-US" sz="1200">
                    <a:latin typeface="Roboto"/>
                    <a:ea typeface="Roboto"/>
                    <a:cs typeface="Roboto"/>
                    <a:sym typeface="Roboto"/>
                  </a:rPr>
                  <a:t>classe 3</a:t>
                </a:r>
                <a:endParaRPr b="1"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295" name="Google Shape;295;p30"/>
          <p:cNvGrpSpPr/>
          <p:nvPr/>
        </p:nvGrpSpPr>
        <p:grpSpPr>
          <a:xfrm>
            <a:off x="6422848" y="1108200"/>
            <a:ext cx="2721152" cy="788694"/>
            <a:chOff x="6435798" y="2702598"/>
            <a:chExt cx="2721152" cy="788694"/>
          </a:xfrm>
        </p:grpSpPr>
        <p:sp>
          <p:nvSpPr>
            <p:cNvPr id="296" name="Google Shape;296;p30"/>
            <p:cNvSpPr/>
            <p:nvPr/>
          </p:nvSpPr>
          <p:spPr>
            <a:xfrm>
              <a:off x="6807650" y="3079475"/>
              <a:ext cx="2349300" cy="133500"/>
            </a:xfrm>
            <a:prstGeom prst="rect">
              <a:avLst/>
            </a:prstGeom>
            <a:solidFill>
              <a:srgbClr val="0856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7" name="Google Shape;297;p30"/>
            <p:cNvGrpSpPr/>
            <p:nvPr/>
          </p:nvGrpSpPr>
          <p:grpSpPr>
            <a:xfrm>
              <a:off x="6435798" y="2702598"/>
              <a:ext cx="930900" cy="788694"/>
              <a:chOff x="6435798" y="2702598"/>
              <a:chExt cx="930900" cy="788694"/>
            </a:xfrm>
          </p:grpSpPr>
          <p:grpSp>
            <p:nvGrpSpPr>
              <p:cNvPr id="298" name="Google Shape;298;p30"/>
              <p:cNvGrpSpPr/>
              <p:nvPr/>
            </p:nvGrpSpPr>
            <p:grpSpPr>
              <a:xfrm rot="10800000">
                <a:off x="6760035" y="3079467"/>
                <a:ext cx="92400" cy="411825"/>
                <a:chOff x="2070100" y="2563700"/>
                <a:chExt cx="92400" cy="411825"/>
              </a:xfrm>
            </p:grpSpPr>
            <p:cxnSp>
              <p:nvCxnSpPr>
                <p:cNvPr id="299" name="Google Shape;299;p30"/>
                <p:cNvCxnSpPr/>
                <p:nvPr/>
              </p:nvCxnSpPr>
              <p:spPr>
                <a:xfrm>
                  <a:off x="2116300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300" name="Google Shape;300;p30"/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01" name="Google Shape;301;p30"/>
              <p:cNvSpPr txBox="1"/>
              <p:nvPr/>
            </p:nvSpPr>
            <p:spPr>
              <a:xfrm>
                <a:off x="6435798" y="2702598"/>
                <a:ext cx="9309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en-US" sz="1200">
                    <a:latin typeface="Roboto"/>
                    <a:ea typeface="Roboto"/>
                    <a:cs typeface="Roboto"/>
                    <a:sym typeface="Roboto"/>
                  </a:rPr>
                  <a:t>classe 4</a:t>
                </a:r>
                <a:endParaRPr b="1"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302" name="Google Shape;302;p30"/>
          <p:cNvGrpSpPr/>
          <p:nvPr/>
        </p:nvGrpSpPr>
        <p:grpSpPr>
          <a:xfrm>
            <a:off x="483041" y="1205666"/>
            <a:ext cx="2395009" cy="786599"/>
            <a:chOff x="495991" y="2800065"/>
            <a:chExt cx="2395009" cy="786599"/>
          </a:xfrm>
        </p:grpSpPr>
        <p:sp>
          <p:nvSpPr>
            <p:cNvPr id="303" name="Google Shape;303;p30"/>
            <p:cNvSpPr/>
            <p:nvPr/>
          </p:nvSpPr>
          <p:spPr>
            <a:xfrm>
              <a:off x="932600" y="3079475"/>
              <a:ext cx="1958400" cy="133500"/>
            </a:xfrm>
            <a:prstGeom prst="rect">
              <a:avLst/>
            </a:prstGeom>
            <a:solidFill>
              <a:srgbClr val="0E94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04" name="Google Shape;304;p30"/>
            <p:cNvGrpSpPr/>
            <p:nvPr/>
          </p:nvGrpSpPr>
          <p:grpSpPr>
            <a:xfrm>
              <a:off x="495991" y="2800065"/>
              <a:ext cx="871200" cy="786599"/>
              <a:chOff x="495991" y="2800065"/>
              <a:chExt cx="871200" cy="786599"/>
            </a:xfrm>
          </p:grpSpPr>
          <p:sp>
            <p:nvSpPr>
              <p:cNvPr id="305" name="Google Shape;305;p30"/>
              <p:cNvSpPr txBox="1"/>
              <p:nvPr/>
            </p:nvSpPr>
            <p:spPr>
              <a:xfrm>
                <a:off x="495991" y="3215263"/>
                <a:ext cx="8712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en-US" sz="1200">
                    <a:latin typeface="Roboto"/>
                    <a:ea typeface="Roboto"/>
                    <a:cs typeface="Roboto"/>
                    <a:sym typeface="Roboto"/>
                  </a:rPr>
                  <a:t>classe 1</a:t>
                </a:r>
                <a:endParaRPr b="1"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306" name="Google Shape;306;p30"/>
              <p:cNvGrpSpPr/>
              <p:nvPr/>
            </p:nvGrpSpPr>
            <p:grpSpPr>
              <a:xfrm>
                <a:off x="881025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307" name="Google Shape;307;p30"/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308" name="Google Shape;308;p30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309" name="Google Shape;309;p30"/>
          <p:cNvGrpSpPr/>
          <p:nvPr/>
        </p:nvGrpSpPr>
        <p:grpSpPr>
          <a:xfrm>
            <a:off x="2512651" y="1108200"/>
            <a:ext cx="2323752" cy="788694"/>
            <a:chOff x="2525601" y="2702598"/>
            <a:chExt cx="2323752" cy="788694"/>
          </a:xfrm>
        </p:grpSpPr>
        <p:sp>
          <p:nvSpPr>
            <p:cNvPr id="310" name="Google Shape;310;p30"/>
            <p:cNvSpPr/>
            <p:nvPr/>
          </p:nvSpPr>
          <p:spPr>
            <a:xfrm>
              <a:off x="2890952" y="3079475"/>
              <a:ext cx="1958400" cy="133500"/>
            </a:xfrm>
            <a:prstGeom prst="rect">
              <a:avLst/>
            </a:prstGeom>
            <a:solidFill>
              <a:srgbClr val="0856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11" name="Google Shape;311;p30"/>
            <p:cNvGrpSpPr/>
            <p:nvPr/>
          </p:nvGrpSpPr>
          <p:grpSpPr>
            <a:xfrm>
              <a:off x="2525601" y="2702598"/>
              <a:ext cx="833700" cy="788694"/>
              <a:chOff x="2525601" y="2702598"/>
              <a:chExt cx="833700" cy="788694"/>
            </a:xfrm>
          </p:grpSpPr>
          <p:sp>
            <p:nvSpPr>
              <p:cNvPr id="312" name="Google Shape;312;p30"/>
              <p:cNvSpPr txBox="1"/>
              <p:nvPr/>
            </p:nvSpPr>
            <p:spPr>
              <a:xfrm>
                <a:off x="2525601" y="2702598"/>
                <a:ext cx="8337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en-US" sz="1200">
                    <a:latin typeface="Roboto"/>
                    <a:ea typeface="Roboto"/>
                    <a:cs typeface="Roboto"/>
                    <a:sym typeface="Roboto"/>
                  </a:rPr>
                  <a:t>classe 2</a:t>
                </a:r>
                <a:endParaRPr b="1"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313" name="Google Shape;313;p30"/>
              <p:cNvGrpSpPr/>
              <p:nvPr/>
            </p:nvGrpSpPr>
            <p:grpSpPr>
              <a:xfrm rot="10800000">
                <a:off x="2849073" y="3079467"/>
                <a:ext cx="92400" cy="411825"/>
                <a:chOff x="2070100" y="2563700"/>
                <a:chExt cx="92400" cy="411825"/>
              </a:xfrm>
            </p:grpSpPr>
            <p:cxnSp>
              <p:nvCxnSpPr>
                <p:cNvPr id="314" name="Google Shape;314;p30"/>
                <p:cNvCxnSpPr/>
                <p:nvPr/>
              </p:nvCxnSpPr>
              <p:spPr>
                <a:xfrm>
                  <a:off x="2116300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315" name="Google Shape;315;p30"/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316" name="Google Shape;316;p30"/>
          <p:cNvSpPr txBox="1"/>
          <p:nvPr/>
        </p:nvSpPr>
        <p:spPr>
          <a:xfrm>
            <a:off x="239100" y="2073900"/>
            <a:ext cx="8665800" cy="4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Diretrizes para definir classes.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 a condição de entrada especifica um intervalo, então define-se uma classe válida e duas inválidas;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 a condição de entrada especifica uma quantidade, então define-se uma classe válida e duas inválidas;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 a condição especifica conjuntos determinados de valores, define-se uma classe válida para cada conjunto e uma classe inválida com outro valor qualquer.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Exemplo: Tabela de imposto de renda.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 a condição de entrada é específica (“deve ser assim”), então define-se uma classe válida e uma inválida.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Exemplo: identificador deve iniciar com uma letra.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1"/>
          <p:cNvSpPr txBox="1"/>
          <p:nvPr/>
        </p:nvSpPr>
        <p:spPr>
          <a:xfrm>
            <a:off x="239100" y="585525"/>
            <a:ext cx="86658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Critério Particionamento em Classes de Equivalência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" name="Google Shape;323;p31"/>
          <p:cNvSpPr txBox="1"/>
          <p:nvPr/>
        </p:nvSpPr>
        <p:spPr>
          <a:xfrm>
            <a:off x="1401750" y="55750"/>
            <a:ext cx="63405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Calibri"/>
                <a:ea typeface="Calibri"/>
                <a:cs typeface="Calibri"/>
                <a:sym typeface="Calibri"/>
              </a:rPr>
              <a:t>Teste Funcional</a:t>
            </a:r>
            <a:endParaRPr b="1" sz="3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1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5" name="Google Shape;325;p31"/>
          <p:cNvSpPr txBox="1"/>
          <p:nvPr/>
        </p:nvSpPr>
        <p:spPr>
          <a:xfrm>
            <a:off x="239100" y="1235700"/>
            <a:ext cx="8665800" cy="53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Exemplo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Especificação do programa </a:t>
            </a:r>
            <a:r>
              <a:rPr i="1"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Identifier</a:t>
            </a: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“O programa deve determinar se um identificador é válido ou não. Um identificador válido deve </a:t>
            </a:r>
            <a:r>
              <a:rPr b="1"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começar com uma letra </a:t>
            </a: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 </a:t>
            </a:r>
            <a:r>
              <a:rPr b="1"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conter apenas letras ou dígitos</a:t>
            </a: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Além disso, </a:t>
            </a:r>
            <a:r>
              <a:rPr b="1"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deve ter o mínimo de um caractere e o máximo de seis caracteres de comprimento</a:t>
            </a: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.”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</a:pP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Passo 1: </a:t>
            </a: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Identificando as classes de equivalência.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</a:pP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Passo 2: Definição do conjunto de teste: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■"/>
            </a:pP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baseline="-25000"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{(a5, Válido), (“”, Inválido), (665432197, Inválido), (B*ss1, Inválido)}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326" name="Google Shape;326;p31"/>
          <p:cNvGraphicFramePr/>
          <p:nvPr/>
        </p:nvGraphicFramePr>
        <p:xfrm>
          <a:off x="952500" y="317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{E4DFE960-0670-48EE-9F83-311B0CB271FA}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FFFFFF"/>
                          </a:solidFill>
                        </a:rPr>
                        <a:t>Variáves de Entrada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FFFFFF"/>
                          </a:solidFill>
                        </a:rPr>
                        <a:t>Classes de equivalência válidas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FFFFFF"/>
                          </a:solidFill>
                        </a:rPr>
                        <a:t>Classes de equivalência inválidas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Comprimento (t)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 &lt;= t &lt;= 6 (1)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 &lt; 1 (2) e t &gt; 6 (3)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Iniciar com uma letra (i)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Sim, inicia com letra (4)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Não inicia com letra (5)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Contém letras ou dígitos (c)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Sim, contém apenas letras ou dígitos (6)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Contém caracteres diferentes de letras e dígitos (7)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27" name="Google Shape;327;p31"/>
          <p:cNvSpPr txBox="1"/>
          <p:nvPr/>
        </p:nvSpPr>
        <p:spPr>
          <a:xfrm>
            <a:off x="2065750" y="6027250"/>
            <a:ext cx="5949000" cy="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(1), (4), (6)		(2)			(3, 5)				(7)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2"/>
          <p:cNvSpPr/>
          <p:nvPr/>
        </p:nvSpPr>
        <p:spPr>
          <a:xfrm>
            <a:off x="394376" y="5573123"/>
            <a:ext cx="21645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300" lIns="50625" spcFirstLastPara="1" rIns="50625" wrap="square" tIns="25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Raphael Muniz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32"/>
          <p:cNvSpPr/>
          <p:nvPr/>
        </p:nvSpPr>
        <p:spPr>
          <a:xfrm>
            <a:off x="424856" y="5880780"/>
            <a:ext cx="23379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300" lIns="50625" spcFirstLastPara="1" rIns="50625" wrap="square" tIns="25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en-US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raphael.muniz</a:t>
            </a:r>
            <a:r>
              <a:rPr b="0" i="0" lang="en-US" u="none" cap="none" strike="noStrik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@</a:t>
            </a:r>
            <a:r>
              <a:rPr lang="en-US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ifrn.edu.br</a:t>
            </a:r>
            <a:endParaRPr b="0" i="0" u="none" cap="none" strike="noStrik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334" name="Google Shape;334;p32"/>
          <p:cNvSpPr txBox="1"/>
          <p:nvPr>
            <p:ph idx="4294967295" type="ctrTitle"/>
          </p:nvPr>
        </p:nvSpPr>
        <p:spPr>
          <a:xfrm>
            <a:off x="0" y="2533652"/>
            <a:ext cx="9144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US" sz="6200">
                <a:solidFill>
                  <a:srgbClr val="FF9900"/>
                </a:solidFill>
              </a:rPr>
              <a:t>Critério Análise do Valor Limite</a:t>
            </a:r>
            <a:endParaRPr b="1" sz="6200">
              <a:solidFill>
                <a:srgbClr val="FF9900"/>
              </a:solidFill>
            </a:endParaRPr>
          </a:p>
        </p:txBody>
      </p:sp>
      <p:pic>
        <p:nvPicPr>
          <p:cNvPr id="335" name="Google Shape;33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1325" y="5237875"/>
            <a:ext cx="3181350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3"/>
          <p:cNvSpPr txBox="1"/>
          <p:nvPr/>
        </p:nvSpPr>
        <p:spPr>
          <a:xfrm>
            <a:off x="239100" y="897175"/>
            <a:ext cx="8665800" cy="5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Alguns critérios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Particionamento em classes de equivalência;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Análise de valor limite;</a:t>
            </a:r>
            <a:endParaRPr b="1"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Grafo causa-efeito;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Error guessing;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Teste Funcional sistemático;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Entre outros.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Todos os critérios baseiam-se na especificação do produto testado.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Análise do valor limite </a:t>
            </a: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complementa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os resultados do </a:t>
            </a: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Particionamento em classes de equivalência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" name="Google Shape;342;p33"/>
          <p:cNvSpPr txBox="1"/>
          <p:nvPr/>
        </p:nvSpPr>
        <p:spPr>
          <a:xfrm>
            <a:off x="1401750" y="55750"/>
            <a:ext cx="63405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Calibri"/>
                <a:ea typeface="Calibri"/>
                <a:cs typeface="Calibri"/>
                <a:sym typeface="Calibri"/>
              </a:rPr>
              <a:t>Teste Funcional</a:t>
            </a:r>
            <a:endParaRPr b="1" sz="3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3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4"/>
          <p:cNvSpPr txBox="1"/>
          <p:nvPr/>
        </p:nvSpPr>
        <p:spPr>
          <a:xfrm>
            <a:off x="239100" y="897175"/>
            <a:ext cx="8665800" cy="5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Análise de valor limite;</a:t>
            </a:r>
            <a:endParaRPr b="1"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Extensão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do particionamento em classes de equivalências;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Valores limites são os valores </a:t>
            </a: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mínimos e máximos de uma classe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;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Geralmente utilizada para testar requisitos que exigem </a:t>
            </a: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intervalos de números;</a:t>
            </a:r>
            <a:endParaRPr b="1"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Utilizada quando a classe é </a:t>
            </a: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ordenada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consistindo em </a:t>
            </a: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dados numéricos ou sequenciais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;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" name="Google Shape;350;p34"/>
          <p:cNvSpPr txBox="1"/>
          <p:nvPr/>
        </p:nvSpPr>
        <p:spPr>
          <a:xfrm>
            <a:off x="1401750" y="55750"/>
            <a:ext cx="63405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Calibri"/>
                <a:ea typeface="Calibri"/>
                <a:cs typeface="Calibri"/>
                <a:sym typeface="Calibri"/>
              </a:rPr>
              <a:t>Teste Funcional</a:t>
            </a:r>
            <a:endParaRPr b="1" sz="3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4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5"/>
          <p:cNvSpPr txBox="1"/>
          <p:nvPr/>
        </p:nvSpPr>
        <p:spPr>
          <a:xfrm>
            <a:off x="239100" y="814125"/>
            <a:ext cx="8665800" cy="25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Critério Análise de Valor Limite</a:t>
            </a:r>
            <a:endParaRPr b="1"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Em vez de selecionar os </a:t>
            </a: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dados de teste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aleatoriamente, eles </a:t>
            </a: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devem ser selecionados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considerando o </a:t>
            </a: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valor limitante de cada classe de equivalência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(inferior e superior).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" name="Google Shape;358;p35"/>
          <p:cNvSpPr txBox="1"/>
          <p:nvPr/>
        </p:nvSpPr>
        <p:spPr>
          <a:xfrm>
            <a:off x="1401750" y="55750"/>
            <a:ext cx="63405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Calibri"/>
                <a:ea typeface="Calibri"/>
                <a:cs typeface="Calibri"/>
                <a:sym typeface="Calibri"/>
              </a:rPr>
              <a:t>Teste Funcional</a:t>
            </a:r>
            <a:endParaRPr b="1" sz="3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5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60" name="Google Shape;360;p35"/>
          <p:cNvPicPr preferRelativeResize="0"/>
          <p:nvPr/>
        </p:nvPicPr>
        <p:blipFill rotWithShape="1">
          <a:blip r:embed="rId3">
            <a:alphaModFix/>
          </a:blip>
          <a:srcRect b="0" l="53302" r="0" t="53302"/>
          <a:stretch/>
        </p:blipFill>
        <p:spPr>
          <a:xfrm>
            <a:off x="4907200" y="3579362"/>
            <a:ext cx="1972191" cy="13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35"/>
          <p:cNvSpPr txBox="1"/>
          <p:nvPr/>
        </p:nvSpPr>
        <p:spPr>
          <a:xfrm>
            <a:off x="2285725" y="3982650"/>
            <a:ext cx="2861100" cy="6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latin typeface="Calibri"/>
                <a:ea typeface="Calibri"/>
                <a:cs typeface="Calibri"/>
                <a:sym typeface="Calibri"/>
              </a:rPr>
              <a:t>Domínio de entrada</a:t>
            </a:r>
            <a:endParaRPr b="1"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latin typeface="Calibri"/>
                <a:ea typeface="Calibri"/>
                <a:cs typeface="Calibri"/>
                <a:sym typeface="Calibri"/>
              </a:rPr>
              <a:t>(infinito ou muito grande)</a:t>
            </a:r>
            <a:endParaRPr b="1" sz="17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2" name="Google Shape;362;p35"/>
          <p:cNvPicPr preferRelativeResize="0"/>
          <p:nvPr/>
        </p:nvPicPr>
        <p:blipFill rotWithShape="1">
          <a:blip r:embed="rId4">
            <a:alphaModFix/>
          </a:blip>
          <a:srcRect b="25127" l="7348" r="57085" t="42509"/>
          <a:stretch/>
        </p:blipFill>
        <p:spPr>
          <a:xfrm>
            <a:off x="2809400" y="5237498"/>
            <a:ext cx="6167798" cy="1578401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5"/>
          <p:cNvSpPr txBox="1"/>
          <p:nvPr/>
        </p:nvSpPr>
        <p:spPr>
          <a:xfrm>
            <a:off x="924900" y="5343513"/>
            <a:ext cx="2861100" cy="6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latin typeface="Calibri"/>
                <a:ea typeface="Calibri"/>
                <a:cs typeface="Calibri"/>
                <a:sym typeface="Calibri"/>
              </a:rPr>
              <a:t>Critérios</a:t>
            </a:r>
            <a:endParaRPr b="1" sz="17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6"/>
          <p:cNvSpPr txBox="1"/>
          <p:nvPr/>
        </p:nvSpPr>
        <p:spPr>
          <a:xfrm>
            <a:off x="239100" y="814125"/>
            <a:ext cx="8665800" cy="25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Critério Análise de Valor Limite</a:t>
            </a:r>
            <a:endParaRPr b="1"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-"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Exemplo: Um sistema irá premiar aniversariantes. 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-"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Regra: Só poderão concorrer pessoas com idade entre 20 e 30 anos.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Identificando as classes de equivalência</a:t>
            </a:r>
            <a:endParaRPr b="1"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Quais dados devem ser utilizados considerando a análise de valor limite?</a:t>
            </a:r>
            <a:endParaRPr b="1"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" name="Google Shape;370;p36"/>
          <p:cNvSpPr txBox="1"/>
          <p:nvPr/>
        </p:nvSpPr>
        <p:spPr>
          <a:xfrm>
            <a:off x="1401750" y="55750"/>
            <a:ext cx="63405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Calibri"/>
                <a:ea typeface="Calibri"/>
                <a:cs typeface="Calibri"/>
                <a:sym typeface="Calibri"/>
              </a:rPr>
              <a:t>Teste Funcional</a:t>
            </a:r>
            <a:endParaRPr b="1" sz="3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6"/>
          <p:cNvSpPr/>
          <p:nvPr/>
        </p:nvSpPr>
        <p:spPr>
          <a:xfrm>
            <a:off x="904500" y="2956900"/>
            <a:ext cx="2292600" cy="6702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0, 1, 2, …, 19</a:t>
            </a:r>
            <a:endParaRPr b="1" sz="1800"/>
          </a:p>
        </p:txBody>
      </p:sp>
      <p:sp>
        <p:nvSpPr>
          <p:cNvPr id="372" name="Google Shape;372;p36"/>
          <p:cNvSpPr/>
          <p:nvPr/>
        </p:nvSpPr>
        <p:spPr>
          <a:xfrm>
            <a:off x="3425700" y="2956900"/>
            <a:ext cx="2292600" cy="6702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20, 21, 22, …, 30</a:t>
            </a:r>
            <a:endParaRPr b="1" sz="1800"/>
          </a:p>
        </p:txBody>
      </p:sp>
      <p:sp>
        <p:nvSpPr>
          <p:cNvPr id="373" name="Google Shape;373;p36"/>
          <p:cNvSpPr/>
          <p:nvPr/>
        </p:nvSpPr>
        <p:spPr>
          <a:xfrm>
            <a:off x="5946900" y="2956900"/>
            <a:ext cx="2292600" cy="6702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31, 32, 33, …</a:t>
            </a:r>
            <a:endParaRPr b="1" sz="1800"/>
          </a:p>
        </p:txBody>
      </p:sp>
      <p:sp>
        <p:nvSpPr>
          <p:cNvPr id="374" name="Google Shape;374;p36"/>
          <p:cNvSpPr/>
          <p:nvPr/>
        </p:nvSpPr>
        <p:spPr>
          <a:xfrm>
            <a:off x="675900" y="5139500"/>
            <a:ext cx="2521200" cy="4689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19</a:t>
            </a:r>
            <a:endParaRPr b="1" sz="1800"/>
          </a:p>
        </p:txBody>
      </p:sp>
      <p:sp>
        <p:nvSpPr>
          <p:cNvPr id="375" name="Google Shape;375;p36"/>
          <p:cNvSpPr/>
          <p:nvPr/>
        </p:nvSpPr>
        <p:spPr>
          <a:xfrm>
            <a:off x="3197100" y="5139500"/>
            <a:ext cx="2521200" cy="4689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21				    29</a:t>
            </a:r>
            <a:endParaRPr b="1" sz="1800"/>
          </a:p>
        </p:txBody>
      </p:sp>
      <p:sp>
        <p:nvSpPr>
          <p:cNvPr id="376" name="Google Shape;376;p36"/>
          <p:cNvSpPr/>
          <p:nvPr/>
        </p:nvSpPr>
        <p:spPr>
          <a:xfrm>
            <a:off x="5718300" y="5139500"/>
            <a:ext cx="2521200" cy="4689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31</a:t>
            </a:r>
            <a:endParaRPr b="1" sz="1800"/>
          </a:p>
        </p:txBody>
      </p:sp>
      <p:cxnSp>
        <p:nvCxnSpPr>
          <p:cNvPr id="377" name="Google Shape;377;p36"/>
          <p:cNvCxnSpPr>
            <a:stCxn id="375" idx="1"/>
          </p:cNvCxnSpPr>
          <p:nvPr/>
        </p:nvCxnSpPr>
        <p:spPr>
          <a:xfrm rot="10800000">
            <a:off x="3197100" y="4872050"/>
            <a:ext cx="0" cy="50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8" name="Google Shape;378;p36"/>
          <p:cNvCxnSpPr/>
          <p:nvPr/>
        </p:nvCxnSpPr>
        <p:spPr>
          <a:xfrm rot="10800000">
            <a:off x="5711700" y="4872050"/>
            <a:ext cx="0" cy="50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9" name="Google Shape;379;p36"/>
          <p:cNvSpPr txBox="1"/>
          <p:nvPr/>
        </p:nvSpPr>
        <p:spPr>
          <a:xfrm>
            <a:off x="2910600" y="4570900"/>
            <a:ext cx="57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20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6"/>
          <p:cNvSpPr txBox="1"/>
          <p:nvPr/>
        </p:nvSpPr>
        <p:spPr>
          <a:xfrm>
            <a:off x="5425200" y="4570900"/>
            <a:ext cx="57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1" name="Google Shape;38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3072129">
            <a:off x="2444286" y="4733526"/>
            <a:ext cx="1282227" cy="70544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6"/>
          <p:cNvSpPr txBox="1"/>
          <p:nvPr/>
        </p:nvSpPr>
        <p:spPr>
          <a:xfrm>
            <a:off x="675900" y="5847750"/>
            <a:ext cx="559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R.: 19, 20, 30, 31;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3" name="Google Shape;38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7625149">
            <a:off x="5307530" y="4727834"/>
            <a:ext cx="1282227" cy="8076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7"/>
          <p:cNvSpPr txBox="1"/>
          <p:nvPr/>
        </p:nvSpPr>
        <p:spPr>
          <a:xfrm>
            <a:off x="239100" y="814125"/>
            <a:ext cx="8665800" cy="25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Critério Análise de Valor Limite</a:t>
            </a:r>
            <a:endParaRPr b="1"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Suíte de Teste</a:t>
            </a:r>
            <a:endParaRPr b="1"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" name="Google Shape;390;p37"/>
          <p:cNvSpPr txBox="1"/>
          <p:nvPr/>
        </p:nvSpPr>
        <p:spPr>
          <a:xfrm>
            <a:off x="1401750" y="55750"/>
            <a:ext cx="63405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Calibri"/>
                <a:ea typeface="Calibri"/>
                <a:cs typeface="Calibri"/>
                <a:sym typeface="Calibri"/>
              </a:rPr>
              <a:t>Teste Funcional</a:t>
            </a:r>
            <a:endParaRPr b="1" sz="3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7"/>
          <p:cNvSpPr/>
          <p:nvPr/>
        </p:nvSpPr>
        <p:spPr>
          <a:xfrm>
            <a:off x="675900" y="2320100"/>
            <a:ext cx="2521200" cy="4689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19</a:t>
            </a:r>
            <a:endParaRPr b="1" sz="1800"/>
          </a:p>
        </p:txBody>
      </p:sp>
      <p:sp>
        <p:nvSpPr>
          <p:cNvPr id="392" name="Google Shape;392;p37"/>
          <p:cNvSpPr/>
          <p:nvPr/>
        </p:nvSpPr>
        <p:spPr>
          <a:xfrm>
            <a:off x="3197100" y="2320100"/>
            <a:ext cx="2521200" cy="4689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21				    29</a:t>
            </a:r>
            <a:endParaRPr b="1" sz="1800"/>
          </a:p>
        </p:txBody>
      </p:sp>
      <p:sp>
        <p:nvSpPr>
          <p:cNvPr id="393" name="Google Shape;393;p37"/>
          <p:cNvSpPr/>
          <p:nvPr/>
        </p:nvSpPr>
        <p:spPr>
          <a:xfrm>
            <a:off x="5718300" y="2320100"/>
            <a:ext cx="2521200" cy="4689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31</a:t>
            </a:r>
            <a:endParaRPr b="1" sz="1800"/>
          </a:p>
        </p:txBody>
      </p:sp>
      <p:cxnSp>
        <p:nvCxnSpPr>
          <p:cNvPr id="394" name="Google Shape;394;p37"/>
          <p:cNvCxnSpPr>
            <a:stCxn id="392" idx="1"/>
          </p:cNvCxnSpPr>
          <p:nvPr/>
        </p:nvCxnSpPr>
        <p:spPr>
          <a:xfrm rot="10800000">
            <a:off x="3197100" y="2052650"/>
            <a:ext cx="0" cy="50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" name="Google Shape;395;p37"/>
          <p:cNvCxnSpPr/>
          <p:nvPr/>
        </p:nvCxnSpPr>
        <p:spPr>
          <a:xfrm rot="10800000">
            <a:off x="5711700" y="2052650"/>
            <a:ext cx="0" cy="50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6" name="Google Shape;396;p37"/>
          <p:cNvSpPr txBox="1"/>
          <p:nvPr/>
        </p:nvSpPr>
        <p:spPr>
          <a:xfrm>
            <a:off x="2910600" y="1751500"/>
            <a:ext cx="57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20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7"/>
          <p:cNvSpPr txBox="1"/>
          <p:nvPr/>
        </p:nvSpPr>
        <p:spPr>
          <a:xfrm>
            <a:off x="5425200" y="1751500"/>
            <a:ext cx="57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30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8" name="Google Shape;39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2583087" y="1872462"/>
            <a:ext cx="1282226" cy="113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5146250" y="1794750"/>
            <a:ext cx="1185100" cy="11314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00" name="Google Shape;400;p37"/>
          <p:cNvGraphicFramePr/>
          <p:nvPr/>
        </p:nvGraphicFramePr>
        <p:xfrm>
          <a:off x="1829175" y="400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{E4DFE960-0670-48EE-9F83-311B0CB271FA}</a:tableStyleId>
              </a:tblPr>
              <a:tblGrid>
                <a:gridCol w="2742825"/>
                <a:gridCol w="27428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Dados de Teste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Saída esperada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Inválido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V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álido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V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álido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Inválido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8"/>
          <p:cNvSpPr txBox="1"/>
          <p:nvPr/>
        </p:nvSpPr>
        <p:spPr>
          <a:xfrm>
            <a:off x="239100" y="814125"/>
            <a:ext cx="8665800" cy="25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Critério Análise de Valor Limite</a:t>
            </a:r>
            <a:endParaRPr b="1"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Recomendações Gerais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Usar a recomendação (1) para as condições de saída.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Usar a recomendação (2) para as condições de saída.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 a entrada ou saída for um conjunto ordenado, preocupe-se com o primeiro e o último elemento.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7" name="Google Shape;407;p38"/>
          <p:cNvSpPr txBox="1"/>
          <p:nvPr/>
        </p:nvSpPr>
        <p:spPr>
          <a:xfrm>
            <a:off x="1401750" y="55750"/>
            <a:ext cx="63405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Calibri"/>
                <a:ea typeface="Calibri"/>
                <a:cs typeface="Calibri"/>
                <a:sym typeface="Calibri"/>
              </a:rPr>
              <a:t>Teste Funcional</a:t>
            </a:r>
            <a:endParaRPr b="1" sz="3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8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409" name="Google Shape;409;p38"/>
          <p:cNvGraphicFramePr/>
          <p:nvPr/>
        </p:nvGraphicFramePr>
        <p:xfrm>
          <a:off x="952500" y="201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{E4DFE960-0670-48EE-9F83-311B0CB271FA}</a:tableStyleId>
              </a:tblPr>
              <a:tblGrid>
                <a:gridCol w="1793300"/>
                <a:gridCol w="1948225"/>
                <a:gridCol w="34974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FFFFFF"/>
                          </a:solidFill>
                        </a:rPr>
                        <a:t>Se a condição de entrada ...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FFFFFF"/>
                          </a:solidFill>
                        </a:rPr>
                        <a:t>Exemplo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FFFFFF"/>
                          </a:solidFill>
                        </a:rPr>
                        <a:t>devem ser definidos dados de teste ...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AutoNum type="arabicParenBoth"/>
                      </a:pPr>
                      <a:r>
                        <a:rPr lang="en-US"/>
                        <a:t>Especifica um intervalo de valores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Um valor no intervalo entre -1 e +1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para os limites deste intervalo e dados de teste imediatamente subsequentes, que explorem classes inválidas vizinhas: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US"/>
                        <a:t>-1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US"/>
                        <a:t>+1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US"/>
                        <a:t>-1,001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US"/>
                        <a:t>+1,001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(2) Especifica uma quantidade de valores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Um valor no tamanho de 1 até 255 caracteres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Com nenhum valor de entrada;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Com somente 1 valor;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Com 255 valores;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 com 256 valores de entrada.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9"/>
          <p:cNvSpPr txBox="1"/>
          <p:nvPr/>
        </p:nvSpPr>
        <p:spPr>
          <a:xfrm>
            <a:off x="239100" y="585525"/>
            <a:ext cx="86658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Critério Particionamento em Classes de Equivalência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6" name="Google Shape;416;p39"/>
          <p:cNvSpPr txBox="1"/>
          <p:nvPr/>
        </p:nvSpPr>
        <p:spPr>
          <a:xfrm>
            <a:off x="1401750" y="55750"/>
            <a:ext cx="63405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Calibri"/>
                <a:ea typeface="Calibri"/>
                <a:cs typeface="Calibri"/>
                <a:sym typeface="Calibri"/>
              </a:rPr>
              <a:t>Teste Funcional</a:t>
            </a:r>
            <a:endParaRPr b="1" sz="3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9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8" name="Google Shape;418;p39"/>
          <p:cNvSpPr txBox="1"/>
          <p:nvPr/>
        </p:nvSpPr>
        <p:spPr>
          <a:xfrm>
            <a:off x="239100" y="1235700"/>
            <a:ext cx="8665800" cy="53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Exemplo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Especificação do programa </a:t>
            </a:r>
            <a:r>
              <a:rPr i="1"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Identifier</a:t>
            </a: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“O programa deve determinar se um identificador é válido ou não. Um identificador válido deve começar com uma letra e conter apenas letras ou dígitos. Além disso, deve ter o mínimo de um caractere e o máximo de seis caracteres de comprimento.”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0"/>
          <p:cNvSpPr txBox="1"/>
          <p:nvPr/>
        </p:nvSpPr>
        <p:spPr>
          <a:xfrm>
            <a:off x="239100" y="585525"/>
            <a:ext cx="86658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Critério Particionamento em Classes de Equivalência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5" name="Google Shape;425;p40"/>
          <p:cNvSpPr txBox="1"/>
          <p:nvPr/>
        </p:nvSpPr>
        <p:spPr>
          <a:xfrm>
            <a:off x="1401750" y="55750"/>
            <a:ext cx="63405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Calibri"/>
                <a:ea typeface="Calibri"/>
                <a:cs typeface="Calibri"/>
                <a:sym typeface="Calibri"/>
              </a:rPr>
              <a:t>Teste Funcional</a:t>
            </a:r>
            <a:endParaRPr b="1" sz="3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40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7" name="Google Shape;427;p40"/>
          <p:cNvSpPr txBox="1"/>
          <p:nvPr/>
        </p:nvSpPr>
        <p:spPr>
          <a:xfrm>
            <a:off x="239100" y="930900"/>
            <a:ext cx="8665800" cy="53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Exemplo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Passo 1: Identificar as classes de equivalência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428" name="Google Shape;428;p40"/>
          <p:cNvGraphicFramePr/>
          <p:nvPr/>
        </p:nvGraphicFramePr>
        <p:xfrm>
          <a:off x="723900" y="161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{E4DFE960-0670-48EE-9F83-311B0CB271FA}</a:tableStyleId>
              </a:tblPr>
              <a:tblGrid>
                <a:gridCol w="2688475"/>
                <a:gridCol w="2688475"/>
                <a:gridCol w="26884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FFFFFF"/>
                          </a:solidFill>
                        </a:rPr>
                        <a:t>Variáves de Entrada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FFFFFF"/>
                          </a:solidFill>
                        </a:rPr>
                        <a:t>Classes de equivalência válidas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FFFFFF"/>
                          </a:solidFill>
                        </a:rPr>
                        <a:t>Classes de equivalência inválidas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Comprimento (t)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 &lt;= t &lt;= 6 (1)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 &lt; 1 (2) e t &gt; 6 (3)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Iniciar com uma letra (i)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Sim, inicia com letra (4)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Não inicia com letra (5)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Contém letras ou dígitos (c)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Sim, contém apenas letras ou dígitos (6)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Contém caracteres diferentes de letras e dígitos (7)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29" name="Google Shape;429;p40"/>
          <p:cNvSpPr txBox="1"/>
          <p:nvPr/>
        </p:nvSpPr>
        <p:spPr>
          <a:xfrm>
            <a:off x="0" y="3733800"/>
            <a:ext cx="8789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</a:pP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Definição do conjunto de teste: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■"/>
            </a:pP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baseline="-25000"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{(a5, Válido), (“”, Inválido), (665432197, Inválido), (B*ss1, Inválido)}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0" name="Google Shape;430;p40"/>
          <p:cNvSpPr txBox="1"/>
          <p:nvPr/>
        </p:nvSpPr>
        <p:spPr>
          <a:xfrm>
            <a:off x="1913350" y="4198450"/>
            <a:ext cx="5949000" cy="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(1), (4), (6)		(2)			(3, 5)				(7)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1"/>
          <p:cNvSpPr txBox="1"/>
          <p:nvPr/>
        </p:nvSpPr>
        <p:spPr>
          <a:xfrm>
            <a:off x="239100" y="585525"/>
            <a:ext cx="86658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Critério Particionamento em Classes de Equivalência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7" name="Google Shape;437;p41"/>
          <p:cNvSpPr txBox="1"/>
          <p:nvPr/>
        </p:nvSpPr>
        <p:spPr>
          <a:xfrm>
            <a:off x="1401750" y="55750"/>
            <a:ext cx="63405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Calibri"/>
                <a:ea typeface="Calibri"/>
                <a:cs typeface="Calibri"/>
                <a:sym typeface="Calibri"/>
              </a:rPr>
              <a:t>Teste Funcional</a:t>
            </a:r>
            <a:endParaRPr b="1" sz="3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41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9" name="Google Shape;439;p41"/>
          <p:cNvSpPr txBox="1"/>
          <p:nvPr/>
        </p:nvSpPr>
        <p:spPr>
          <a:xfrm>
            <a:off x="239100" y="930900"/>
            <a:ext cx="8665800" cy="53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Exemplo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Passo 2: Definição dos casos de teste considerando os limites e as recomendações para o critério.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</a:pP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Quais dados atentem as classes definidas para o critério (t)?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■"/>
            </a:pPr>
            <a:r>
              <a:rPr lang="en-US">
                <a:solidFill>
                  <a:schemeClr val="dk1"/>
                </a:solidFill>
              </a:rPr>
              <a:t>1 &lt;= t &lt;= 6 (1)  e  t &lt; 1 (2) e t &gt; 6 (3)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440" name="Google Shape;440;p41"/>
          <p:cNvGraphicFramePr/>
          <p:nvPr/>
        </p:nvGraphicFramePr>
        <p:xfrm>
          <a:off x="1299950" y="2734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{E4DFE960-0670-48EE-9F83-311B0CB271FA}</a:tableStyleId>
              </a:tblPr>
              <a:tblGrid>
                <a:gridCol w="1636025"/>
                <a:gridCol w="1636025"/>
                <a:gridCol w="1636025"/>
                <a:gridCol w="1636025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FFFF"/>
                          </a:solidFill>
                        </a:rPr>
                        <a:t>Entrada</a:t>
                      </a:r>
                      <a:endParaRPr b="1"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000000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FFFF"/>
                          </a:solidFill>
                        </a:rPr>
                        <a:t>Saída</a:t>
                      </a:r>
                      <a:endParaRPr b="1"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t</a:t>
                      </a:r>
                      <a:endParaRPr b="1"/>
                    </a:p>
                  </a:txBody>
                  <a:tcPr marT="91425" marB="91425" marR="91425" marL="91425" anchor="ctr"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78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i</a:t>
                      </a:r>
                      <a:endParaRPr b="1"/>
                    </a:p>
                  </a:txBody>
                  <a:tcPr marT="91425" marB="91425" marR="91425" marL="91425" anchor="ctr"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78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c</a:t>
                      </a:r>
                      <a:endParaRPr b="1"/>
                    </a:p>
                  </a:txBody>
                  <a:tcPr marT="91425" marB="91425" marR="91425" marL="91425" anchor="ctr"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786E"/>
                    </a:solidFill>
                  </a:tcPr>
                </a:tc>
                <a:tc vMerge="1"/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FF9900"/>
                          </a:solidFill>
                        </a:rPr>
                        <a:t>“” (2) </a:t>
                      </a:r>
                      <a:endParaRPr b="1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FF9900"/>
                          </a:solidFill>
                        </a:rPr>
                        <a:t>Inválido</a:t>
                      </a:r>
                      <a:endParaRPr b="1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4A86E8"/>
                          </a:solidFill>
                        </a:rPr>
                        <a:t>a (1) </a:t>
                      </a:r>
                      <a:endParaRPr b="1">
                        <a:solidFill>
                          <a:srgbClr val="4A86E8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4A86E8"/>
                          </a:solidFill>
                        </a:rPr>
                        <a:t>Válido</a:t>
                      </a:r>
                      <a:endParaRPr b="1">
                        <a:solidFill>
                          <a:srgbClr val="4A86E8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4A86E8"/>
                          </a:solidFill>
                        </a:rPr>
                        <a:t>a12345 (1)</a:t>
                      </a:r>
                      <a:endParaRPr b="1">
                        <a:solidFill>
                          <a:srgbClr val="4A86E8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4A86E8"/>
                          </a:solidFill>
                        </a:rPr>
                        <a:t>Válido</a:t>
                      </a:r>
                      <a:endParaRPr b="1">
                        <a:solidFill>
                          <a:srgbClr val="4A86E8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FF9900"/>
                          </a:solidFill>
                        </a:rPr>
                        <a:t>a123456 (3)</a:t>
                      </a:r>
                      <a:endParaRPr b="1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>
                          <a:solidFill>
                            <a:srgbClr val="FF9900"/>
                          </a:solidFill>
                        </a:rPr>
                        <a:t>Inválido</a:t>
                      </a:r>
                      <a:endParaRPr b="1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2"/>
          <p:cNvSpPr txBox="1"/>
          <p:nvPr/>
        </p:nvSpPr>
        <p:spPr>
          <a:xfrm>
            <a:off x="239100" y="585525"/>
            <a:ext cx="86658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Critério Particionamento em Classes de Equivalência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7" name="Google Shape;447;p42"/>
          <p:cNvSpPr txBox="1"/>
          <p:nvPr/>
        </p:nvSpPr>
        <p:spPr>
          <a:xfrm>
            <a:off x="1401750" y="55750"/>
            <a:ext cx="63405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Calibri"/>
                <a:ea typeface="Calibri"/>
                <a:cs typeface="Calibri"/>
                <a:sym typeface="Calibri"/>
              </a:rPr>
              <a:t>Teste Funcional</a:t>
            </a:r>
            <a:endParaRPr b="1" sz="3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42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9" name="Google Shape;449;p42"/>
          <p:cNvSpPr txBox="1"/>
          <p:nvPr/>
        </p:nvSpPr>
        <p:spPr>
          <a:xfrm>
            <a:off x="239100" y="930900"/>
            <a:ext cx="8665800" cy="53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Exemplo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Passo 2: Definição dos casos de teste considerando os limites e as recomendações para o critério.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</a:pP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Os dados de teste definidos atendem as demais classes dos critérios (i) e </a:t>
            </a: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(c)?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■"/>
            </a:pP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(i) Sim, inicia com letra (4) e </a:t>
            </a:r>
            <a:r>
              <a:rPr lang="en-US" sz="16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Não inicia com letra (5)</a:t>
            </a:r>
            <a:endParaRPr sz="16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■"/>
            </a:pP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(c) Sim, contém apenas letras ou dígitos (6) </a:t>
            </a:r>
            <a:r>
              <a:rPr lang="en-US" sz="16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Contém caracteres diferentes de letras e dígitos (7)</a:t>
            </a:r>
            <a:endParaRPr sz="16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450" name="Google Shape;450;p42"/>
          <p:cNvGraphicFramePr/>
          <p:nvPr/>
        </p:nvGraphicFramePr>
        <p:xfrm>
          <a:off x="1299950" y="3245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{E4DFE960-0670-48EE-9F83-311B0CB271FA}</a:tableStyleId>
              </a:tblPr>
              <a:tblGrid>
                <a:gridCol w="1636025"/>
                <a:gridCol w="1636025"/>
                <a:gridCol w="1636025"/>
                <a:gridCol w="1636025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FFFF"/>
                          </a:solidFill>
                        </a:rPr>
                        <a:t>Entrada</a:t>
                      </a:r>
                      <a:endParaRPr b="1"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000000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FFFF"/>
                          </a:solidFill>
                        </a:rPr>
                        <a:t>Saída</a:t>
                      </a:r>
                      <a:endParaRPr b="1"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t</a:t>
                      </a:r>
                      <a:endParaRPr b="1"/>
                    </a:p>
                  </a:txBody>
                  <a:tcPr marT="91425" marB="91425" marR="91425" marL="91425" anchor="ctr"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78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i</a:t>
                      </a:r>
                      <a:endParaRPr b="1"/>
                    </a:p>
                  </a:txBody>
                  <a:tcPr marT="91425" marB="91425" marR="91425" marL="91425" anchor="ctr"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78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c</a:t>
                      </a:r>
                      <a:endParaRPr b="1"/>
                    </a:p>
                  </a:txBody>
                  <a:tcPr marT="91425" marB="91425" marR="91425" marL="91425" anchor="ctr"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786E"/>
                    </a:solidFill>
                  </a:tcPr>
                </a:tc>
                <a:tc vMerge="1"/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FF9900"/>
                          </a:solidFill>
                        </a:rPr>
                        <a:t>“” (2) (5)</a:t>
                      </a:r>
                      <a:endParaRPr b="1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FF9900"/>
                          </a:solidFill>
                        </a:rPr>
                        <a:t>Inválido</a:t>
                      </a:r>
                      <a:endParaRPr b="1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4A86E8"/>
                          </a:solidFill>
                        </a:rPr>
                        <a:t>a (1) (4) (6)</a:t>
                      </a:r>
                      <a:endParaRPr b="1">
                        <a:solidFill>
                          <a:srgbClr val="4A86E8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>
                          <a:solidFill>
                            <a:srgbClr val="4A86E8"/>
                          </a:solidFill>
                        </a:rPr>
                        <a:t>a (1) (4) (6)</a:t>
                      </a:r>
                      <a:endParaRPr b="1">
                        <a:solidFill>
                          <a:srgbClr val="4A86E8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>
                          <a:solidFill>
                            <a:srgbClr val="4A86E8"/>
                          </a:solidFill>
                        </a:rPr>
                        <a:t>a (1) (4) (6)</a:t>
                      </a:r>
                      <a:endParaRPr b="1">
                        <a:solidFill>
                          <a:srgbClr val="4A86E8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4A86E8"/>
                          </a:solidFill>
                        </a:rPr>
                        <a:t>Válido</a:t>
                      </a:r>
                      <a:endParaRPr b="1">
                        <a:solidFill>
                          <a:srgbClr val="4A86E8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4A86E8"/>
                          </a:solidFill>
                        </a:rPr>
                        <a:t>a12345 (1) (4) (6)</a:t>
                      </a:r>
                      <a:endParaRPr b="1">
                        <a:solidFill>
                          <a:srgbClr val="4A86E8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4A86E8"/>
                          </a:solidFill>
                        </a:rPr>
                        <a:t>a12345 (1) (4) (6)</a:t>
                      </a:r>
                      <a:endParaRPr b="1">
                        <a:solidFill>
                          <a:srgbClr val="4A86E8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>
                          <a:solidFill>
                            <a:srgbClr val="4A86E8"/>
                          </a:solidFill>
                        </a:rPr>
                        <a:t>a12345 (1) (4) (6)</a:t>
                      </a:r>
                      <a:endParaRPr b="1">
                        <a:solidFill>
                          <a:srgbClr val="4A86E8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4A86E8"/>
                          </a:solidFill>
                        </a:rPr>
                        <a:t>Válido</a:t>
                      </a:r>
                      <a:endParaRPr b="1">
                        <a:solidFill>
                          <a:srgbClr val="4A86E8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FF9900"/>
                          </a:solidFill>
                        </a:rPr>
                        <a:t>a123456 (3)</a:t>
                      </a:r>
                      <a:endParaRPr b="1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>
                          <a:solidFill>
                            <a:srgbClr val="FF9900"/>
                          </a:solidFill>
                        </a:rPr>
                        <a:t>Inválido</a:t>
                      </a:r>
                      <a:endParaRPr b="1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3"/>
          <p:cNvSpPr txBox="1"/>
          <p:nvPr/>
        </p:nvSpPr>
        <p:spPr>
          <a:xfrm>
            <a:off x="239100" y="585525"/>
            <a:ext cx="86658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Critério Particionamento em Classes de Equivalência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" name="Google Shape;457;p43"/>
          <p:cNvSpPr txBox="1"/>
          <p:nvPr/>
        </p:nvSpPr>
        <p:spPr>
          <a:xfrm>
            <a:off x="1401750" y="55750"/>
            <a:ext cx="63405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Calibri"/>
                <a:ea typeface="Calibri"/>
                <a:cs typeface="Calibri"/>
                <a:sym typeface="Calibri"/>
              </a:rPr>
              <a:t>Teste Funcional</a:t>
            </a:r>
            <a:endParaRPr b="1" sz="3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43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9" name="Google Shape;459;p43"/>
          <p:cNvSpPr txBox="1"/>
          <p:nvPr/>
        </p:nvSpPr>
        <p:spPr>
          <a:xfrm>
            <a:off x="239100" y="930900"/>
            <a:ext cx="8665800" cy="53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Exemplo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Passo 2: Definição dos casos de teste considerando os limites e as recomendações para o critério.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</a:pP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Quais dados atentem às classes que ainda não foram contempladas?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■"/>
            </a:pPr>
            <a:r>
              <a:rPr lang="en-US" sz="16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Não inicia com letra (5)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■"/>
            </a:pPr>
            <a:r>
              <a:rPr lang="en-US" sz="16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Contém caracteres diferentes de letras e dígitos (7)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460" name="Google Shape;460;p43"/>
          <p:cNvGraphicFramePr/>
          <p:nvPr/>
        </p:nvGraphicFramePr>
        <p:xfrm>
          <a:off x="1299950" y="3039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{E4DFE960-0670-48EE-9F83-311B0CB271FA}</a:tableStyleId>
              </a:tblPr>
              <a:tblGrid>
                <a:gridCol w="1636025"/>
                <a:gridCol w="1636025"/>
                <a:gridCol w="1636025"/>
                <a:gridCol w="1636025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FFFF"/>
                          </a:solidFill>
                        </a:rPr>
                        <a:t>Entrada</a:t>
                      </a:r>
                      <a:endParaRPr b="1"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000000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FFFF"/>
                          </a:solidFill>
                        </a:rPr>
                        <a:t>Saída</a:t>
                      </a:r>
                      <a:endParaRPr b="1"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t</a:t>
                      </a:r>
                      <a:endParaRPr b="1"/>
                    </a:p>
                  </a:txBody>
                  <a:tcPr marT="91425" marB="91425" marR="91425" marL="91425" anchor="ctr"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78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i</a:t>
                      </a:r>
                      <a:endParaRPr b="1"/>
                    </a:p>
                  </a:txBody>
                  <a:tcPr marT="91425" marB="91425" marR="91425" marL="91425" anchor="ctr"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78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c</a:t>
                      </a:r>
                      <a:endParaRPr b="1"/>
                    </a:p>
                  </a:txBody>
                  <a:tcPr marT="91425" marB="91425" marR="91425" marL="91425" anchor="ctr"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786E"/>
                    </a:solidFill>
                  </a:tcPr>
                </a:tc>
                <a:tc vMerge="1"/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FF9900"/>
                          </a:solidFill>
                        </a:rPr>
                        <a:t>“” (2) (5)</a:t>
                      </a:r>
                      <a:endParaRPr b="1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FF9900"/>
                          </a:solidFill>
                        </a:rPr>
                        <a:t>Inválido</a:t>
                      </a:r>
                      <a:endParaRPr b="1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4A86E8"/>
                          </a:solidFill>
                        </a:rPr>
                        <a:t>a (1) (4) (6)</a:t>
                      </a:r>
                      <a:endParaRPr b="1">
                        <a:solidFill>
                          <a:srgbClr val="4A86E8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>
                          <a:solidFill>
                            <a:srgbClr val="4A86E8"/>
                          </a:solidFill>
                        </a:rPr>
                        <a:t>a (1) (4) (6)</a:t>
                      </a:r>
                      <a:endParaRPr b="1">
                        <a:solidFill>
                          <a:srgbClr val="4A86E8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>
                          <a:solidFill>
                            <a:srgbClr val="4A86E8"/>
                          </a:solidFill>
                        </a:rPr>
                        <a:t>a (1) (4) (6)</a:t>
                      </a:r>
                      <a:endParaRPr b="1">
                        <a:solidFill>
                          <a:srgbClr val="4A86E8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4A86E8"/>
                          </a:solidFill>
                        </a:rPr>
                        <a:t>Válido</a:t>
                      </a:r>
                      <a:endParaRPr b="1">
                        <a:solidFill>
                          <a:srgbClr val="4A86E8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4A86E8"/>
                          </a:solidFill>
                        </a:rPr>
                        <a:t>a12345 (1) (4) (6)</a:t>
                      </a:r>
                      <a:endParaRPr b="1">
                        <a:solidFill>
                          <a:srgbClr val="4A86E8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4A86E8"/>
                          </a:solidFill>
                        </a:rPr>
                        <a:t>a12345 (1) (4) (6)</a:t>
                      </a:r>
                      <a:endParaRPr b="1">
                        <a:solidFill>
                          <a:srgbClr val="4A86E8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>
                          <a:solidFill>
                            <a:srgbClr val="4A86E8"/>
                          </a:solidFill>
                        </a:rPr>
                        <a:t>a12345 (1) (4) (6)</a:t>
                      </a:r>
                      <a:endParaRPr b="1">
                        <a:solidFill>
                          <a:srgbClr val="4A86E8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4A86E8"/>
                          </a:solidFill>
                        </a:rPr>
                        <a:t>Válido</a:t>
                      </a:r>
                      <a:endParaRPr b="1">
                        <a:solidFill>
                          <a:srgbClr val="4A86E8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FF9900"/>
                          </a:solidFill>
                        </a:rPr>
                        <a:t>a123456 (3)</a:t>
                      </a:r>
                      <a:endParaRPr b="1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>
                          <a:solidFill>
                            <a:srgbClr val="FF9900"/>
                          </a:solidFill>
                        </a:rPr>
                        <a:t>Inválido</a:t>
                      </a:r>
                      <a:endParaRPr b="1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FF9900"/>
                          </a:solidFill>
                        </a:rPr>
                        <a:t>2 (5)</a:t>
                      </a:r>
                      <a:endParaRPr b="1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>
                          <a:solidFill>
                            <a:srgbClr val="FF9900"/>
                          </a:solidFill>
                        </a:rPr>
                        <a:t>Inválido</a:t>
                      </a:r>
                      <a:endParaRPr b="1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FF9900"/>
                          </a:solidFill>
                        </a:rPr>
                        <a:t>A#$12 (7)</a:t>
                      </a:r>
                      <a:endParaRPr b="1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>
                          <a:solidFill>
                            <a:srgbClr val="FF9900"/>
                          </a:solidFill>
                        </a:rPr>
                        <a:t>Inválido</a:t>
                      </a:r>
                      <a:endParaRPr b="1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466;p44"/>
          <p:cNvPicPr preferRelativeResize="0"/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1059477" y="756525"/>
            <a:ext cx="7025051" cy="52176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7" name="Google Shape;467;p44"/>
          <p:cNvCxnSpPr/>
          <p:nvPr/>
        </p:nvCxnSpPr>
        <p:spPr>
          <a:xfrm>
            <a:off x="403950" y="4757925"/>
            <a:ext cx="8564700" cy="0"/>
          </a:xfrm>
          <a:prstGeom prst="straightConnector1">
            <a:avLst/>
          </a:prstGeom>
          <a:noFill/>
          <a:ln cap="flat" cmpd="sng" w="2286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8" name="Google Shape;468;p44"/>
          <p:cNvCxnSpPr/>
          <p:nvPr/>
        </p:nvCxnSpPr>
        <p:spPr>
          <a:xfrm>
            <a:off x="403950" y="4986525"/>
            <a:ext cx="8564700" cy="0"/>
          </a:xfrm>
          <a:prstGeom prst="straightConnector1">
            <a:avLst/>
          </a:prstGeom>
          <a:noFill/>
          <a:ln cap="flat" cmpd="sng" w="2286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9" name="Google Shape;469;p44"/>
          <p:cNvSpPr txBox="1"/>
          <p:nvPr/>
        </p:nvSpPr>
        <p:spPr>
          <a:xfrm>
            <a:off x="1125450" y="3646825"/>
            <a:ext cx="6359700" cy="21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0">
                <a:latin typeface="Calibri"/>
                <a:ea typeface="Calibri"/>
                <a:cs typeface="Calibri"/>
                <a:sym typeface="Calibri"/>
              </a:rPr>
              <a:t>TEST</a:t>
            </a:r>
            <a:endParaRPr b="1" sz="20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5"/>
          <p:cNvSpPr txBox="1"/>
          <p:nvPr/>
        </p:nvSpPr>
        <p:spPr>
          <a:xfrm>
            <a:off x="437975" y="218225"/>
            <a:ext cx="8258700" cy="44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1 - O uso de uma técnica não exclui o uso de outra. Ou seja, você pode usar várias técnicas para gerar os casos de teste.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escolha de qual técnica utilizar dependerá de uma série de fatores, por exemplo o tipo do sistema,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clientes, requisitos contratuais, nível e tipo de riscos, objetivos do teste, documentação disponível,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conhecimento dos testadores, tempo, dinheiro, ciclo de desenvolvimento adotado (cascata, iterativo/incremental, etc.), modelo de caso de uso e uma experiência prévia dos tipos de defeitos encontrados, dentre outras questões.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Você e sua equipe receberam a tarefa de implantar o ScriptLattes, que é um script GNU-GPL desenvolvido para a extração e compilação automática de: produções bibliográficas, produções técnicas, produções artísticas, orientações, projetos de pesquisa, prêmios e títulos, grafo de colaborações e mapa de geolocalização de um conjunto de pesquisadores cadastrados na plataforma Lattes.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Vocês possuem informações sobre a especificação do ScriptLattes (manual, funcionalidades, atores, etc.), mas não possuem documentação necessária sobre o código em si e não possuem conhecimento da estrutura interna, a qual foi criada por terceiros.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Nesse cenário, qual seria a opção de Técnica de Teste mais apropriada para derivar os casos de teste?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AutoNum type="alphaLcParenR"/>
            </a:pPr>
            <a:r>
              <a:rPr lang="en-US"/>
              <a:t>Teste Funcional</a:t>
            </a:r>
            <a:endParaRPr/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AutoNum type="alphaLcParenR"/>
            </a:pPr>
            <a:r>
              <a:rPr lang="en-US"/>
              <a:t>Teste de Mutação</a:t>
            </a:r>
            <a:endParaRPr/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AutoNum type="alphaLcParenR"/>
            </a:pPr>
            <a:r>
              <a:rPr lang="en-US"/>
              <a:t>Teste Estrutural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6"/>
          <p:cNvSpPr txBox="1"/>
          <p:nvPr>
            <p:ph idx="4294967295" type="ctrTitle"/>
          </p:nvPr>
        </p:nvSpPr>
        <p:spPr>
          <a:xfrm>
            <a:off x="0" y="2000727"/>
            <a:ext cx="9144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lt1"/>
                </a:solidFill>
              </a:rPr>
              <a:t>Teste de Software</a:t>
            </a:r>
            <a:endParaRPr b="1" i="0" sz="4400" u="none" cap="none" strike="noStrike">
              <a:solidFill>
                <a:srgbClr val="F1C232"/>
              </a:solidFill>
            </a:endParaRPr>
          </a:p>
        </p:txBody>
      </p:sp>
      <p:sp>
        <p:nvSpPr>
          <p:cNvPr id="481" name="Google Shape;481;p46"/>
          <p:cNvSpPr/>
          <p:nvPr/>
        </p:nvSpPr>
        <p:spPr>
          <a:xfrm>
            <a:off x="394376" y="5573123"/>
            <a:ext cx="21645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300" lIns="50625" spcFirstLastPara="1" rIns="50625" wrap="square" tIns="25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Raphael Muniz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46"/>
          <p:cNvSpPr/>
          <p:nvPr/>
        </p:nvSpPr>
        <p:spPr>
          <a:xfrm>
            <a:off x="424856" y="5880780"/>
            <a:ext cx="23379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300" lIns="50625" spcFirstLastPara="1" rIns="50625" wrap="square" tIns="25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en-US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raphael.muniz</a:t>
            </a:r>
            <a:r>
              <a:rPr b="0" i="0" lang="en-US" u="none" cap="none" strike="noStrik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@</a:t>
            </a:r>
            <a:r>
              <a:rPr lang="en-US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ifrn.edu.br</a:t>
            </a:r>
            <a:endParaRPr b="0" i="0" u="none" cap="none" strike="noStrik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83" name="Google Shape;483;p46"/>
          <p:cNvSpPr txBox="1"/>
          <p:nvPr>
            <p:ph idx="4294967295" type="ctrTitle"/>
          </p:nvPr>
        </p:nvSpPr>
        <p:spPr>
          <a:xfrm>
            <a:off x="0" y="3143727"/>
            <a:ext cx="9144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 sz="3600">
                <a:solidFill>
                  <a:srgbClr val="FF9900"/>
                </a:solidFill>
              </a:rPr>
              <a:t>Técnicas de Teste: Teste Funcional</a:t>
            </a:r>
            <a:endParaRPr sz="3600">
              <a:solidFill>
                <a:srgbClr val="FF9900"/>
              </a:solidFill>
            </a:endParaRPr>
          </a:p>
        </p:txBody>
      </p:sp>
      <p:pic>
        <p:nvPicPr>
          <p:cNvPr id="484" name="Google Shape;48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1325" y="5237875"/>
            <a:ext cx="3181350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46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Tema do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